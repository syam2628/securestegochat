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75" r:id="rId2"/>
    <p:sldId id="256" r:id="rId3"/>
    <p:sldId id="277" r:id="rId4"/>
    <p:sldId id="281" r:id="rId5"/>
    <p:sldId id="259" r:id="rId6"/>
    <p:sldId id="282" r:id="rId7"/>
    <p:sldId id="279" r:id="rId8"/>
    <p:sldId id="285" r:id="rId9"/>
    <p:sldId id="266" r:id="rId10"/>
    <p:sldId id="261" r:id="rId11"/>
    <p:sldId id="283" r:id="rId12"/>
    <p:sldId id="284" r:id="rId13"/>
    <p:sldId id="262" r:id="rId14"/>
    <p:sldId id="286" r:id="rId15"/>
    <p:sldId id="280" r:id="rId16"/>
    <p:sldId id="287" r:id="rId17"/>
    <p:sldId id="288" r:id="rId18"/>
    <p:sldId id="289" r:id="rId19"/>
    <p:sldId id="265" r:id="rId20"/>
    <p:sldId id="278" r:id="rId21"/>
    <p:sldId id="273" r:id="rId2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2.46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1 155,'0'-3,"0"1,1-1,-1 1,1-1,0 1,0 0,0-1,0 1,0 0,1 0,-1-1,1 1,-1 0,1 1,0-1,-1 0,1 0,0 1,0-1,0 1,1-1,-1 1,4-2,7-2,0-1,0 2,15-4,-19 6,21-5,0 2,57-2,-3 1,-66 3,-1-2,0 1,24-11,-29 10,0 0,-1 1,2 1,-1 0,0 0,1 1,-1 1,21 0,-21 2,1 1,-1 0,0 1,0 0,0 1,0 0,-1 1,0 1,0 0,0 0,-1 1,1 0,13 14,109 81,-97-75,-2-4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6.55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1 358,'6'-5,"1"1,1 0,-1 0,0 1,1 0,0 0,9-2,5-2,23-8,53-22,-65 24,0 2,1 2,0 1,55-6,-45 7,-24 4,0 1,1-2,-1-1,1 0,27-12,-23 9,0 0,1 1,0 2,0 0,0 2,52 1,-22-1,-48 3,-5 0,1 0,0 0,-1 0,1-1,0 1,-1-1,1 0,-1 0,1 0,-1-1,4-1,-7 2,0 1,1 0,-1 0,0-1,0 1,0 0,0 0,0-1,-1 1,1 0,0 0,0-1,0 1,0 0,0 0,0-1,0 1,0 0,0 0,-1 0,1-1,0 1,0 0,0 0,0 0,-1-1,1 1,0 0,0 0,-1 0,1 0,0 0,0 0,-1-1,1 1,0 0,0 0,-1 0,1 0,0 0,0 0,-1 0,1 0,0 0,0 0,-1 0,-15-3,-16-2,-1 2,1 1,-1 2,0 1,1 2,0 1,-61 15,39-4,-96 11,218-26,-46 1,1-1,32-4,-48 3,0 0,0-1,0 0,0 0,0 0,0-1,-1 0,1-1,-1 0,0 0,0 0,6-6,0 0,0 0,0 1,1 0,0 1,0 1,22-10,87-21,-96 31,-51 3,-23 3,-285 4,315-2,0 1,0 1,0 1,0 0,0 2,1 0,0 0,-21 13,38-19,0 0,-1 0,1 0,0 0,-1 0,1 0,0 0,-1 0,1 0,0 0,-1 1,1-1,0 0,-1 0,1 0,0 1,0-1,-1 0,1 0,0 0,0 1,0-1,-1 0,1 1,0-1,0 0,0 1,0-1,0 0,-1 0,1 1,0-1,0 0,0 1,0-1,0 0,0 1,0-1,0 1,15 4,29-2,-43-3,8 0,306-4,-233-8,-66 8,1 1,-1 0,0 2,1 0,-1 0,28 4,-43-3,0 0,-1 0,1 0,-1 0,1 0,0 0,-1 0,1 0,0 0,-1 0,1 1,0-1,-1 0,1 0,-1 1,1-1,-1 0,1 1,-1-1,1 1,-1-1,1 1,-1-1,1 1,-1-1,0 1,1-1,-1 1,0-1,1 1,-1 0,0-1,0 1,0-1,0 1,1 0,-1-1,0 1,0 0,0-1,0 1,-1 0,1-1,0 1,0 0,0-1,0 1,-1-1,1 2,-11 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2.46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1 155,'0'-3,"0"1,1-1,-1 1,1-1,0 1,0 0,0-1,0 1,0 0,1 0,-1-1,1 1,-1 0,1 1,0-1,-1 0,1 0,0 1,0-1,0 1,1-1,-1 1,4-2,7-2,0-1,0 2,15-4,-19 6,21-5,0 2,57-2,-3 1,-66 3,-1-2,0 1,24-11,-29 10,0 0,-1 1,2 1,-1 0,0 0,1 1,-1 1,21 0,-21 2,1 1,-1 0,0 1,0 0,0 1,0 0,-1 1,0 1,0 0,0 0,-1 1,1 0,13 14,109 81,-97-75,-2-4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6.55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1 358,'6'-5,"1"1,1 0,-1 0,0 1,1 0,0 0,9-2,5-2,23-8,53-22,-65 24,0 2,1 2,0 1,55-6,-45 7,-24 4,0 1,1-2,-1-1,1 0,27-12,-23 9,0 0,1 1,0 2,0 0,0 2,52 1,-22-1,-48 3,-5 0,1 0,0 0,-1 0,1-1,0 1,-1-1,1 0,-1 0,1 0,-1-1,4-1,-7 2,0 1,1 0,-1 0,0-1,0 1,0 0,0 0,0-1,-1 1,1 0,0 0,0-1,0 1,0 0,0 0,0-1,0 1,0 0,0 0,-1 0,1-1,0 1,0 0,0 0,0 0,-1-1,1 1,0 0,0 0,-1 0,1 0,0 0,0 0,-1-1,1 1,0 0,0 0,-1 0,1 0,0 0,0 0,-1 0,1 0,0 0,0 0,-1 0,-15-3,-16-2,-1 2,1 1,-1 2,0 1,1 2,0 1,-61 15,39-4,-96 11,218-26,-46 1,1-1,32-4,-48 3,0 0,0-1,0 0,0 0,0 0,0-1,-1 0,1-1,-1 0,0 0,0 0,6-6,0 0,0 0,0 1,1 0,0 1,0 1,22-10,87-21,-96 31,-51 3,-23 3,-285 4,315-2,0 1,0 1,0 1,0 0,0 2,1 0,0 0,-21 13,38-19,0 0,-1 0,1 0,0 0,-1 0,1 0,0 0,-1 0,1 0,0 0,-1 1,1-1,0 0,-1 0,1 0,0 1,0-1,-1 0,1 0,0 0,0 1,0-1,-1 0,1 1,0-1,0 0,0 1,0-1,0 0,-1 0,1 1,0-1,0 0,0 1,0-1,0 0,0 1,0-1,0 1,15 4,29-2,-43-3,8 0,306-4,-233-8,-66 8,1 1,-1 0,0 2,1 0,-1 0,28 4,-43-3,0 0,-1 0,1 0,-1 0,1 0,0 0,-1 0,1 0,0 0,-1 0,1 1,0-1,-1 0,1 0,-1 1,1-1,-1 0,1 1,-1-1,1 1,-1-1,1 1,-1-1,1 1,-1-1,0 1,1-1,-1 1,0-1,1 1,-1 0,0-1,0 1,0-1,0 1,1 0,-1-1,0 1,0 0,0-1,0 1,-1 0,1-1,0 1,0 0,0-1,0 1,-1-1,1 2,-11 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07:45:40.491"/>
    </inkml:context>
    <inkml:brush xml:id="br0">
      <inkml:brushProperty name="width" value="0.35" units="cm"/>
      <inkml:brushProperty name="height" value="0.35" units="cm"/>
      <inkml:brushProperty name="color" value="#FFFFFF"/>
    </inkml:brush>
  </inkml:definitions>
  <inkml:trace contextRef="#ctx0" brushRef="#br0">0 1 4915,'11'0'360,"4"0"-360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07:45:41.425"/>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2.46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1 155,'0'-3,"0"1,1-1,-1 1,1-1,0 1,0 0,0-1,0 1,0 0,1 0,-1-1,1 1,-1 0,1 1,0-1,-1 0,1 0,0 1,0-1,0 1,1-1,-1 1,4-2,7-2,0-1,0 2,15-4,-19 6,21-5,0 2,57-2,-3 1,-66 3,-1-2,0 1,24-11,-29 10,0 0,-1 1,2 1,-1 0,0 0,1 1,-1 1,21 0,-21 2,1 1,-1 0,0 1,0 0,0 1,0 0,-1 1,0 1,0 0,0 0,-1 1,1 0,13 14,109 81,-97-75,-2-4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07T07:44:16.55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1 358,'6'-5,"1"1,1 0,-1 0,0 1,1 0,0 0,9-2,5-2,23-8,53-22,-65 24,0 2,1 2,0 1,55-6,-45 7,-24 4,0 1,1-2,-1-1,1 0,27-12,-23 9,0 0,1 1,0 2,0 0,0 2,52 1,-22-1,-48 3,-5 0,1 0,0 0,-1 0,1-1,0 1,-1-1,1 0,-1 0,1 0,-1-1,4-1,-7 2,0 1,1 0,-1 0,0-1,0 1,0 0,0 0,0-1,-1 1,1 0,0 0,0-1,0 1,0 0,0 0,0-1,0 1,0 0,0 0,-1 0,1-1,0 1,0 0,0 0,0 0,-1-1,1 1,0 0,0 0,-1 0,1 0,0 0,0 0,-1-1,1 1,0 0,0 0,-1 0,1 0,0 0,0 0,-1 0,1 0,0 0,0 0,-1 0,-15-3,-16-2,-1 2,1 1,-1 2,0 1,1 2,0 1,-61 15,39-4,-96 11,218-26,-46 1,1-1,32-4,-48 3,0 0,0-1,0 0,0 0,0 0,0-1,-1 0,1-1,-1 0,0 0,0 0,6-6,0 0,0 0,0 1,1 0,0 1,0 1,22-10,87-21,-96 31,-51 3,-23 3,-285 4,315-2,0 1,0 1,0 1,0 0,0 2,1 0,0 0,-21 13,38-19,0 0,-1 0,1 0,0 0,-1 0,1 0,0 0,-1 0,1 0,0 0,-1 1,1-1,0 0,-1 0,1 0,0 1,0-1,-1 0,1 0,0 0,0 1,0-1,-1 0,1 1,0-1,0 0,0 1,0-1,0 0,-1 0,1 1,0-1,0 0,0 1,0-1,0 0,0 1,0-1,0 1,15 4,29-2,-43-3,8 0,306-4,-233-8,-66 8,1 1,-1 0,0 2,1 0,-1 0,28 4,-43-3,0 0,-1 0,1 0,-1 0,1 0,0 0,-1 0,1 0,0 0,-1 0,1 1,0-1,-1 0,1 0,-1 1,1-1,-1 0,1 1,-1-1,1 1,-1-1,1 1,-1-1,1 1,-1-1,0 1,1-1,-1 1,0-1,1 1,-1 0,0-1,0 1,0-1,0 1,1 0,-1-1,0 1,0 0,0-1,0 1,-1 0,1-1,0 1,0 0,0-1,0 1,-1-1,1 2,-11 10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07:45:40.491"/>
    </inkml:context>
    <inkml:brush xml:id="br0">
      <inkml:brushProperty name="width" value="0.35" units="cm"/>
      <inkml:brushProperty name="height" value="0.35" units="cm"/>
      <inkml:brushProperty name="color" value="#FFFFFF"/>
    </inkml:brush>
  </inkml:definitions>
  <inkml:trace contextRef="#ctx0" brushRef="#br0">0 1 4915,'11'0'360,"4"0"-360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7T07:45:41.425"/>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0823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D753-0421-DCA9-D82A-9F050D0E4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6CAA0-53DE-527F-EEA8-240E6AD8E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12393E-CF99-CAE7-9CEA-8FF7E5DC6B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14A5BC-785F-7A2E-B7B1-452C2A3F189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52242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79289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1143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8259-4352-441A-2223-B670454F7490}"/>
              </a:ext>
            </a:extLst>
          </p:cNvPr>
          <p:cNvSpPr>
            <a:spLocks noGrp="1"/>
          </p:cNvSpPr>
          <p:nvPr>
            <p:ph type="title"/>
          </p:nvPr>
        </p:nvSpPr>
        <p:spPr>
          <a:xfrm>
            <a:off x="998221" y="2051688"/>
            <a:ext cx="12618720" cy="3423284"/>
          </a:xfrm>
        </p:spPr>
        <p:txBody>
          <a:bodyPr anchor="b"/>
          <a:lstStyle>
            <a:lvl1pPr>
              <a:defRPr sz="54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CA23F7-2F1A-AD0E-7FFD-76D1BA87BCA4}"/>
              </a:ext>
            </a:extLst>
          </p:cNvPr>
          <p:cNvSpPr>
            <a:spLocks noGrp="1"/>
          </p:cNvSpPr>
          <p:nvPr>
            <p:ph type="body" idx="1"/>
          </p:nvPr>
        </p:nvSpPr>
        <p:spPr>
          <a:xfrm>
            <a:off x="998221" y="5507358"/>
            <a:ext cx="12618720" cy="1800224"/>
          </a:xfrm>
        </p:spPr>
        <p:txBody>
          <a:bodyPr/>
          <a:lstStyle>
            <a:lvl1pPr marL="0" indent="0">
              <a:buNone/>
              <a:defRPr sz="2160">
                <a:solidFill>
                  <a:schemeClr val="tx1">
                    <a:tint val="82000"/>
                  </a:schemeClr>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9182E3-26D4-B4D4-048C-FA1B42855D16}"/>
              </a:ext>
            </a:extLst>
          </p:cNvPr>
          <p:cNvSpPr>
            <a:spLocks noGrp="1"/>
          </p:cNvSpPr>
          <p:nvPr>
            <p:ph type="dt" sz="half" idx="10"/>
          </p:nvPr>
        </p:nvSpPr>
        <p:spPr/>
        <p:txBody>
          <a:bodyPr/>
          <a:lstStyle/>
          <a:p>
            <a:fld id="{1D8BD707-D9CF-40AE-B4C6-C98DA3205C09}" type="datetimeFigureOut">
              <a:rPr lang="en-US" smtClean="0"/>
              <a:pPr/>
              <a:t>3/7/2026</a:t>
            </a:fld>
            <a:endParaRPr lang="en-US"/>
          </a:p>
        </p:txBody>
      </p:sp>
      <p:sp>
        <p:nvSpPr>
          <p:cNvPr id="5" name="Footer Placeholder 4">
            <a:extLst>
              <a:ext uri="{FF2B5EF4-FFF2-40B4-BE49-F238E27FC236}">
                <a16:creationId xmlns:a16="http://schemas.microsoft.com/office/drawing/2014/main" id="{9CC134A1-4421-9BC4-8F24-FC4DEFC35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E0F6BF-F12E-AA59-B13A-126CADCDA0D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026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50000"/>
            <a:alpha val="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3.xml"/><Relationship Id="rId1" Type="http://schemas.openxmlformats.org/officeDocument/2006/relationships/slideLayout" Target="../slideLayouts/slideLayout8.xml"/><Relationship Id="rId6" Type="http://schemas.openxmlformats.org/officeDocument/2006/relationships/customXml" Target="../ink/ink5.xml"/><Relationship Id="rId11"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customXml" Target="../ink/ink4.xml"/><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8.xml"/><Relationship Id="rId6" Type="http://schemas.openxmlformats.org/officeDocument/2006/relationships/customXml" Target="../ink/ink9.xml"/><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customXml" Target="../ink/ink8.xml"/><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1"/>
          <p:cNvSpPr>
            <a:spLocks noChangeArrowheads="1"/>
          </p:cNvSpPr>
          <p:nvPr/>
        </p:nvSpPr>
        <p:spPr bwMode="auto">
          <a:xfrm>
            <a:off x="1896832" y="189739"/>
            <a:ext cx="10972800" cy="1181862"/>
          </a:xfrm>
          <a:prstGeom prst="rect">
            <a:avLst/>
          </a:prstGeom>
          <a:noFill/>
          <a:ln w="9525">
            <a:noFill/>
            <a:miter lim="800000"/>
            <a:headEnd/>
            <a:tailEnd/>
          </a:ln>
          <a:effectLst/>
        </p:spPr>
        <p:txBody>
          <a:bodyPr vert="horz" wrap="square" lIns="109728" tIns="54864" rIns="109728" bIns="54864" numCol="1" anchor="ctr" anchorCtr="0" compatLnSpc="1">
            <a:prstTxWarp prst="textNoShape">
              <a:avLst/>
            </a:prstTxWarp>
            <a:spAutoFit/>
          </a:bodyPr>
          <a:lstStyle/>
          <a:p>
            <a:pPr algn="ctr" defTabSz="1097280" fontAlgn="base">
              <a:spcBef>
                <a:spcPct val="0"/>
              </a:spcBef>
              <a:spcAft>
                <a:spcPct val="0"/>
              </a:spcAft>
            </a:pPr>
            <a:r>
              <a:rPr lang="en-US" sz="1920" b="1" dirty="0">
                <a:latin typeface="Times New Roman" panose="02020603050405020304" pitchFamily="18" charset="0"/>
                <a:ea typeface="Calibri" pitchFamily="34" charset="0"/>
                <a:cs typeface="Times New Roman" panose="02020603050405020304" pitchFamily="18" charset="0"/>
              </a:rPr>
              <a:t>           </a:t>
            </a:r>
            <a:r>
              <a:rPr lang="en-US" sz="2400" b="1" dirty="0">
                <a:latin typeface="Times New Roman" panose="02020603050405020304" pitchFamily="18" charset="0"/>
                <a:ea typeface="Calibri" pitchFamily="34" charset="0"/>
                <a:cs typeface="Times New Roman" panose="02020603050405020304" pitchFamily="18" charset="0"/>
              </a:rPr>
              <a:t>SREENIVASA INSTITUTE OF TECHNOLOGY AND  MANAGEMENT STUDIES </a:t>
            </a:r>
            <a:endParaRPr lang="en-US" sz="1260" dirty="0">
              <a:latin typeface="Times New Roman" panose="02020603050405020304" pitchFamily="18" charset="0"/>
              <a:cs typeface="Times New Roman" panose="02020603050405020304" pitchFamily="18" charset="0"/>
            </a:endParaRPr>
          </a:p>
          <a:p>
            <a:pPr algn="ctr" defTabSz="1097280" eaLnBrk="0" fontAlgn="base" hangingPunct="0">
              <a:spcBef>
                <a:spcPct val="0"/>
              </a:spcBef>
              <a:spcAft>
                <a:spcPct val="0"/>
              </a:spcAft>
            </a:pPr>
            <a:r>
              <a:rPr lang="en-US" sz="2160" b="1" dirty="0">
                <a:latin typeface="Times New Roman" panose="02020603050405020304" pitchFamily="18" charset="0"/>
                <a:ea typeface="Calibri" pitchFamily="34" charset="0"/>
                <a:cs typeface="Times New Roman" pitchFamily="18" charset="0"/>
              </a:rPr>
              <a:t>(Autonomous)</a:t>
            </a:r>
            <a:endParaRPr lang="en-US" sz="1260" dirty="0">
              <a:latin typeface="Times New Roman" panose="02020603050405020304" pitchFamily="18" charset="0"/>
              <a:cs typeface="Times New Roman" panose="02020603050405020304" pitchFamily="18" charset="0"/>
            </a:endParaRPr>
          </a:p>
        </p:txBody>
      </p:sp>
      <p:sp>
        <p:nvSpPr>
          <p:cNvPr id="1048587" name="Rectangle 2"/>
          <p:cNvSpPr>
            <a:spLocks noChangeArrowheads="1"/>
          </p:cNvSpPr>
          <p:nvPr/>
        </p:nvSpPr>
        <p:spPr bwMode="auto">
          <a:xfrm>
            <a:off x="3759160" y="1450539"/>
            <a:ext cx="7589520" cy="1292662"/>
          </a:xfrm>
          <a:prstGeom prst="rect">
            <a:avLst/>
          </a:prstGeom>
          <a:noFill/>
          <a:ln w="9525">
            <a:noFill/>
            <a:miter lim="800000"/>
            <a:headEnd/>
            <a:tailEnd/>
          </a:ln>
          <a:effectLst/>
        </p:spPr>
        <p:txBody>
          <a:bodyPr vert="horz" wrap="square" lIns="109728" tIns="54864" rIns="109728" bIns="54864" numCol="1" anchor="ctr" anchorCtr="0" compatLnSpc="1">
            <a:prstTxWarp prst="textNoShape">
              <a:avLst/>
            </a:prstTxWarp>
            <a:spAutoFit/>
          </a:bodyPr>
          <a:lstStyle/>
          <a:p>
            <a:pPr algn="ctr" defTabSz="1097280" fontAlgn="base">
              <a:spcBef>
                <a:spcPct val="0"/>
              </a:spcBef>
              <a:spcAft>
                <a:spcPct val="0"/>
              </a:spcAft>
            </a:pPr>
            <a:r>
              <a:rPr lang="en-US" sz="1920" b="1" dirty="0">
                <a:latin typeface="Times New Roman" panose="02020603050405020304" pitchFamily="18" charset="0"/>
                <a:ea typeface="Calibri" pitchFamily="34" charset="0"/>
                <a:cs typeface="Times New Roman" panose="02020603050405020304" pitchFamily="18" charset="0"/>
              </a:rPr>
              <a:t>DEPARTMENT OF CSE-ARTIFICIAL INTELLIGENCE</a:t>
            </a:r>
          </a:p>
          <a:p>
            <a:pPr algn="ctr" defTabSz="1097280" fontAlgn="base">
              <a:spcBef>
                <a:spcPct val="0"/>
              </a:spcBef>
              <a:spcAft>
                <a:spcPct val="0"/>
              </a:spcAft>
            </a:pPr>
            <a:r>
              <a:rPr lang="en-US" sz="1680" b="1" dirty="0">
                <a:latin typeface="Times New Roman" panose="02020603050405020304" pitchFamily="18" charset="0"/>
                <a:ea typeface="Calibri" pitchFamily="34" charset="0"/>
                <a:cs typeface="Times New Roman" pitchFamily="18" charset="0"/>
              </a:rPr>
              <a:t>(2025-2026)</a:t>
            </a:r>
          </a:p>
          <a:p>
            <a:pPr algn="ctr" defTabSz="1097280" fontAlgn="base">
              <a:spcBef>
                <a:spcPct val="0"/>
              </a:spcBef>
              <a:spcAft>
                <a:spcPct val="0"/>
              </a:spcAft>
            </a:pPr>
            <a:endParaRPr lang="en-US" sz="1680" b="1" dirty="0">
              <a:latin typeface="Times New Roman" panose="02020603050405020304" pitchFamily="18" charset="0"/>
              <a:ea typeface="Calibri" pitchFamily="34" charset="0"/>
              <a:cs typeface="Times New Roman" pitchFamily="18" charset="0"/>
            </a:endParaRPr>
          </a:p>
          <a:p>
            <a:pPr algn="ctr" defTabSz="1097280" fontAlgn="base">
              <a:spcBef>
                <a:spcPct val="0"/>
              </a:spcBef>
              <a:spcAft>
                <a:spcPct val="0"/>
              </a:spcAft>
            </a:pPr>
            <a:endParaRPr lang="en-US" sz="2400" dirty="0">
              <a:latin typeface="Times New Roman" panose="02020603050405020304" pitchFamily="18" charset="0"/>
              <a:cs typeface="Times New Roman" panose="02020603050405020304" pitchFamily="18" charset="0"/>
            </a:endParaRPr>
          </a:p>
        </p:txBody>
      </p:sp>
      <p:pic>
        <p:nvPicPr>
          <p:cNvPr id="2097152" name="Picture 5"/>
          <p:cNvPicPr>
            <a:picLocks/>
          </p:cNvPicPr>
          <p:nvPr/>
        </p:nvPicPr>
        <p:blipFill>
          <a:blip r:embed="rId2"/>
          <a:srcRect/>
          <a:stretch>
            <a:fillRect/>
          </a:stretch>
        </p:blipFill>
        <p:spPr bwMode="auto">
          <a:xfrm>
            <a:off x="1896832" y="182881"/>
            <a:ext cx="973962" cy="1425176"/>
          </a:xfrm>
          <a:prstGeom prst="rect">
            <a:avLst/>
          </a:prstGeom>
          <a:noFill/>
          <a:ln w="9525">
            <a:noFill/>
            <a:miter lim="800000"/>
            <a:headEnd/>
            <a:tailEnd/>
          </a:ln>
        </p:spPr>
      </p:pic>
      <p:sp>
        <p:nvSpPr>
          <p:cNvPr id="1048588" name="Rectangle 3"/>
          <p:cNvSpPr>
            <a:spLocks noChangeArrowheads="1"/>
          </p:cNvSpPr>
          <p:nvPr/>
        </p:nvSpPr>
        <p:spPr bwMode="auto">
          <a:xfrm>
            <a:off x="1828800" y="2182059"/>
            <a:ext cx="10972800" cy="1292662"/>
          </a:xfrm>
          <a:prstGeom prst="rect">
            <a:avLst/>
          </a:prstGeom>
          <a:noFill/>
          <a:ln w="9525">
            <a:noFill/>
            <a:miter lim="800000"/>
            <a:headEnd/>
            <a:tailEnd/>
          </a:ln>
          <a:effectLst/>
        </p:spPr>
        <p:txBody>
          <a:bodyPr vert="horz" wrap="square" lIns="109728" tIns="54864" rIns="109728" bIns="54864" numCol="1" anchor="ctr" anchorCtr="0" compatLnSpc="1">
            <a:prstTxWarp prst="textNoShape">
              <a:avLst/>
            </a:prstTxWarp>
            <a:spAutoFit/>
          </a:bodyPr>
          <a:lstStyle/>
          <a:p>
            <a:pPr algn="ctr" defTabSz="1097280" fontAlgn="base">
              <a:spcBef>
                <a:spcPct val="0"/>
              </a:spcBef>
              <a:spcAft>
                <a:spcPct val="0"/>
              </a:spcAft>
            </a:pPr>
            <a:r>
              <a:rPr lang="en-US" sz="1440" b="1" dirty="0">
                <a:latin typeface="Times New Roman" pitchFamily="18" charset="0"/>
                <a:ea typeface="Calibri" pitchFamily="34" charset="0"/>
                <a:cs typeface="Times New Roman" pitchFamily="18" charset="0"/>
              </a:rPr>
              <a:t>A PROJECT PRESENTATION </a:t>
            </a:r>
          </a:p>
          <a:p>
            <a:pPr algn="ctr" defTabSz="1097280" fontAlgn="base">
              <a:spcBef>
                <a:spcPct val="0"/>
              </a:spcBef>
              <a:spcAft>
                <a:spcPct val="0"/>
              </a:spcAft>
            </a:pPr>
            <a:endParaRPr lang="en-US" sz="1440" b="1" dirty="0">
              <a:latin typeface="Times New Roman" pitchFamily="18" charset="0"/>
              <a:ea typeface="Calibri" pitchFamily="34" charset="0"/>
              <a:cs typeface="Times New Roman" pitchFamily="18" charset="0"/>
            </a:endParaRPr>
          </a:p>
          <a:p>
            <a:pPr algn="ctr" defTabSz="1097280" fontAlgn="base">
              <a:spcBef>
                <a:spcPct val="0"/>
              </a:spcBef>
              <a:spcAft>
                <a:spcPct val="0"/>
              </a:spcAft>
            </a:pPr>
            <a:r>
              <a:rPr lang="en-US" sz="1440" b="1" dirty="0">
                <a:latin typeface="Times New Roman" pitchFamily="18" charset="0"/>
                <a:ea typeface="Calibri" pitchFamily="34" charset="0"/>
                <a:cs typeface="Times New Roman" pitchFamily="18" charset="0"/>
              </a:rPr>
              <a:t>ON</a:t>
            </a:r>
          </a:p>
          <a:p>
            <a:pPr algn="ctr" defTabSz="1097280" fontAlgn="base">
              <a:spcBef>
                <a:spcPct val="0"/>
              </a:spcBef>
              <a:spcAft>
                <a:spcPct val="0"/>
              </a:spcAft>
            </a:pPr>
            <a:endParaRPr lang="en-US" sz="960" dirty="0">
              <a:latin typeface="Times New Roman" panose="02020603050405020304" pitchFamily="18" charset="0"/>
              <a:cs typeface="Times New Roman" panose="02020603050405020304" pitchFamily="18" charset="0"/>
            </a:endParaRPr>
          </a:p>
          <a:p>
            <a:pPr algn="ctr" defTabSz="1316736" eaLnBrk="0" fontAlgn="base" hangingPunct="0">
              <a:spcBef>
                <a:spcPct val="0"/>
              </a:spcBef>
              <a:spcAft>
                <a:spcPct val="0"/>
              </a:spcAft>
            </a:pPr>
            <a:r>
              <a:rPr lang="en-US" sz="2400" b="1" dirty="0">
                <a:solidFill>
                  <a:srgbClr val="FF0000"/>
                </a:solidFill>
                <a:latin typeface="Times New Roman" panose="02020603050405020304" pitchFamily="18" charset="0"/>
                <a:ea typeface="Calibri" pitchFamily="34" charset="0"/>
                <a:cs typeface="Times New Roman" pitchFamily="18" charset="0"/>
              </a:rPr>
              <a:t>AI-Powered Secure Chat System with Automated Steganography Detection</a:t>
            </a:r>
            <a:endParaRPr lang="en-US" sz="3840" dirty="0">
              <a:solidFill>
                <a:srgbClr val="FF0000"/>
              </a:solidFill>
              <a:latin typeface="Times New Roman" panose="02020603050405020304" pitchFamily="18" charset="0"/>
              <a:cs typeface="Times New Roman" panose="02020603050405020304" pitchFamily="18" charset="0"/>
            </a:endParaRPr>
          </a:p>
        </p:txBody>
      </p:sp>
      <p:sp>
        <p:nvSpPr>
          <p:cNvPr id="1048589" name="Rectangle 4"/>
          <p:cNvSpPr>
            <a:spLocks noChangeArrowheads="1"/>
          </p:cNvSpPr>
          <p:nvPr/>
        </p:nvSpPr>
        <p:spPr bwMode="auto">
          <a:xfrm>
            <a:off x="7076160" y="3508081"/>
            <a:ext cx="478080" cy="332399"/>
          </a:xfrm>
          <a:prstGeom prst="rect">
            <a:avLst/>
          </a:prstGeom>
          <a:noFill/>
          <a:ln w="9525">
            <a:noFill/>
            <a:miter lim="800000"/>
            <a:headEnd/>
            <a:tailEnd/>
          </a:ln>
          <a:effectLst/>
        </p:spPr>
        <p:txBody>
          <a:bodyPr vert="horz" wrap="none" lIns="109728" tIns="54864" rIns="109728" bIns="54864" numCol="1" anchor="ctr" anchorCtr="0" compatLnSpc="1">
            <a:prstTxWarp prst="textNoShape">
              <a:avLst/>
            </a:prstTxWarp>
            <a:spAutoFit/>
          </a:bodyPr>
          <a:lstStyle/>
          <a:p>
            <a:pPr algn="ctr" defTabSz="1097280" fontAlgn="base">
              <a:spcBef>
                <a:spcPct val="0"/>
              </a:spcBef>
              <a:spcAft>
                <a:spcPct val="0"/>
              </a:spcAft>
            </a:pPr>
            <a:r>
              <a:rPr lang="en-US" sz="1440" dirty="0">
                <a:latin typeface="Times New Roman" panose="02020603050405020304" pitchFamily="18" charset="0"/>
                <a:ea typeface="Calibri" pitchFamily="34" charset="0"/>
                <a:cs typeface="Times New Roman" pitchFamily="18" charset="0"/>
              </a:rPr>
              <a:t>BY</a:t>
            </a:r>
            <a:endParaRPr lang="en-US" sz="2160" dirty="0">
              <a:latin typeface="Times New Roman" panose="02020603050405020304" pitchFamily="18" charset="0"/>
              <a:cs typeface="Times New Roman" panose="02020603050405020304" pitchFamily="18" charset="0"/>
            </a:endParaRPr>
          </a:p>
        </p:txBody>
      </p:sp>
      <p:sp>
        <p:nvSpPr>
          <p:cNvPr id="1048590" name="Text Placeholder 16"/>
          <p:cNvSpPr>
            <a:spLocks noGrp="1"/>
          </p:cNvSpPr>
          <p:nvPr>
            <p:ph type="body" idx="1"/>
          </p:nvPr>
        </p:nvSpPr>
        <p:spPr>
          <a:xfrm>
            <a:off x="2662368" y="5842162"/>
            <a:ext cx="9441728" cy="3723044"/>
          </a:xfrm>
        </p:spPr>
        <p:txBody>
          <a:bodyPr>
            <a:noAutofit/>
          </a:bodyPr>
          <a:lstStyle/>
          <a:p>
            <a:pPr algn="ctr"/>
            <a:r>
              <a:rPr lang="en-US" sz="1680" b="1" dirty="0">
                <a:solidFill>
                  <a:schemeClr val="tx1"/>
                </a:solidFill>
                <a:latin typeface="Times New Roman" pitchFamily="18" charset="0"/>
                <a:ea typeface="Calibri" pitchFamily="34" charset="0"/>
                <a:cs typeface="Times New Roman" pitchFamily="18" charset="0"/>
              </a:rPr>
              <a:t>Under the Guidance of</a:t>
            </a:r>
          </a:p>
          <a:p>
            <a:pPr algn="ctr"/>
            <a:r>
              <a:rPr lang="en-US" sz="1920" b="1" dirty="0">
                <a:solidFill>
                  <a:schemeClr val="tx1"/>
                </a:solidFill>
                <a:latin typeface="Times New Roman" panose="02020603050405020304" pitchFamily="18" charset="0"/>
                <a:ea typeface="Calibri" pitchFamily="34" charset="0"/>
                <a:cs typeface="Times New Roman" pitchFamily="18" charset="0"/>
              </a:rPr>
              <a:t>Ms. M. DEEPIKA</a:t>
            </a:r>
          </a:p>
          <a:p>
            <a:pPr algn="ctr"/>
            <a:r>
              <a:rPr lang="en-US" sz="1680" b="1" dirty="0">
                <a:solidFill>
                  <a:schemeClr val="tx1"/>
                </a:solidFill>
                <a:latin typeface="Times New Roman" pitchFamily="18" charset="0"/>
                <a:ea typeface="Calibri" pitchFamily="34" charset="0"/>
                <a:cs typeface="Times New Roman" pitchFamily="18" charset="0"/>
              </a:rPr>
              <a:t>Assistant Professor </a:t>
            </a:r>
          </a:p>
          <a:p>
            <a:pPr algn="ctr"/>
            <a:r>
              <a:rPr lang="en-US" sz="1680" b="1" dirty="0">
                <a:solidFill>
                  <a:schemeClr val="tx1"/>
                </a:solidFill>
                <a:latin typeface="Times New Roman" pitchFamily="18" charset="0"/>
                <a:ea typeface="Calibri" pitchFamily="34" charset="0"/>
                <a:cs typeface="Times New Roman" pitchFamily="18" charset="0"/>
              </a:rPr>
              <a:t>Department of CSE-Artificial Intelligence,</a:t>
            </a:r>
          </a:p>
          <a:p>
            <a:pPr algn="ctr"/>
            <a:r>
              <a:rPr lang="en-US" sz="1680" b="1" dirty="0">
                <a:solidFill>
                  <a:schemeClr val="tx1"/>
                </a:solidFill>
                <a:latin typeface="Times New Roman" pitchFamily="18" charset="0"/>
                <a:ea typeface="Calibri" pitchFamily="34" charset="0"/>
                <a:cs typeface="Times New Roman" pitchFamily="18" charset="0"/>
              </a:rPr>
              <a:t>Sreenivasa Institute of Technology and </a:t>
            </a:r>
          </a:p>
          <a:p>
            <a:pPr algn="ctr"/>
            <a:r>
              <a:rPr lang="en-US" sz="1680" b="1" dirty="0">
                <a:solidFill>
                  <a:schemeClr val="tx1"/>
                </a:solidFill>
                <a:latin typeface="Times New Roman" pitchFamily="18" charset="0"/>
                <a:ea typeface="Calibri" pitchFamily="34" charset="0"/>
                <a:cs typeface="Times New Roman" pitchFamily="18" charset="0"/>
              </a:rPr>
              <a:t>Management Studies, Chittoor, A.P.</a:t>
            </a:r>
          </a:p>
        </p:txBody>
      </p:sp>
      <p:graphicFrame>
        <p:nvGraphicFramePr>
          <p:cNvPr id="2" name="Table 6">
            <a:extLst>
              <a:ext uri="{FF2B5EF4-FFF2-40B4-BE49-F238E27FC236}">
                <a16:creationId xmlns:a16="http://schemas.microsoft.com/office/drawing/2014/main" id="{82D92F6D-812E-F0C4-C38D-17BD4D3B1774}"/>
              </a:ext>
            </a:extLst>
          </p:cNvPr>
          <p:cNvGraphicFramePr>
            <a:graphicFrameLocks noGrp="1"/>
          </p:cNvGraphicFramePr>
          <p:nvPr/>
        </p:nvGraphicFramePr>
        <p:xfrm>
          <a:off x="4816524" y="4067010"/>
          <a:ext cx="4997353" cy="1702976"/>
        </p:xfrm>
        <a:graphic>
          <a:graphicData uri="http://schemas.openxmlformats.org/drawingml/2006/table">
            <a:tbl>
              <a:tblPr/>
              <a:tblGrid>
                <a:gridCol w="2121120">
                  <a:extLst>
                    <a:ext uri="{9D8B030D-6E8A-4147-A177-3AD203B41FA5}">
                      <a16:colId xmlns:a16="http://schemas.microsoft.com/office/drawing/2014/main" val="20000"/>
                    </a:ext>
                  </a:extLst>
                </a:gridCol>
                <a:gridCol w="2876233">
                  <a:extLst>
                    <a:ext uri="{9D8B030D-6E8A-4147-A177-3AD203B41FA5}">
                      <a16:colId xmlns:a16="http://schemas.microsoft.com/office/drawing/2014/main" val="20001"/>
                    </a:ext>
                  </a:extLst>
                </a:gridCol>
              </a:tblGrid>
              <a:tr h="425744">
                <a:tc>
                  <a:txBody>
                    <a:bodyPr/>
                    <a:lstStyle/>
                    <a:p>
                      <a:pPr marL="0" marR="0">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G V SYAM PRASAD </a:t>
                      </a:r>
                    </a:p>
                  </a:txBody>
                  <a:tcPr marL="98755" marR="98755" marT="0" marB="0">
                    <a:lnL>
                      <a:noFill/>
                    </a:lnL>
                    <a:lnR>
                      <a:noFill/>
                    </a:lnR>
                    <a:lnT>
                      <a:noFill/>
                    </a:lnT>
                    <a:lnB>
                      <a:noFill/>
                    </a:lnB>
                  </a:tcPr>
                </a:tc>
                <a:tc>
                  <a:txBody>
                    <a:bodyPr/>
                    <a:lstStyle/>
                    <a:p>
                      <a:pPr marL="0" marR="0" algn="r">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23755A3101 </a:t>
                      </a:r>
                    </a:p>
                  </a:txBody>
                  <a:tcPr marL="98755" marR="98755" marT="0" marB="0">
                    <a:lnL>
                      <a:noFill/>
                    </a:lnL>
                    <a:lnR>
                      <a:noFill/>
                    </a:lnR>
                    <a:lnT>
                      <a:noFill/>
                    </a:lnT>
                    <a:lnB>
                      <a:noFill/>
                    </a:lnB>
                  </a:tcPr>
                </a:tc>
                <a:extLst>
                  <a:ext uri="{0D108BD9-81ED-4DB2-BD59-A6C34878D82A}">
                    <a16:rowId xmlns:a16="http://schemas.microsoft.com/office/drawing/2014/main" val="10000"/>
                  </a:ext>
                </a:extLst>
              </a:tr>
              <a:tr h="425744">
                <a:tc>
                  <a:txBody>
                    <a:bodyPr/>
                    <a:lstStyle/>
                    <a:p>
                      <a:pPr marL="0" marR="0">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V LOKENDRA</a:t>
                      </a:r>
                    </a:p>
                  </a:txBody>
                  <a:tcPr marL="98755" marR="98755" marT="0" marB="0">
                    <a:lnL>
                      <a:noFill/>
                    </a:lnL>
                    <a:lnR>
                      <a:noFill/>
                    </a:lnR>
                    <a:lnT>
                      <a:noFill/>
                    </a:lnT>
                    <a:lnB>
                      <a:noFill/>
                    </a:lnB>
                  </a:tcPr>
                </a:tc>
                <a:tc>
                  <a:txBody>
                    <a:bodyPr/>
                    <a:lstStyle/>
                    <a:p>
                      <a:pPr marL="0" marR="0" algn="r">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23755A3101</a:t>
                      </a:r>
                    </a:p>
                  </a:txBody>
                  <a:tcPr marL="98755" marR="98755" marT="0" marB="0">
                    <a:lnL>
                      <a:noFill/>
                    </a:lnL>
                    <a:lnR>
                      <a:noFill/>
                    </a:lnR>
                    <a:lnT>
                      <a:noFill/>
                    </a:lnT>
                    <a:lnB>
                      <a:noFill/>
                    </a:lnB>
                  </a:tcPr>
                </a:tc>
                <a:extLst>
                  <a:ext uri="{0D108BD9-81ED-4DB2-BD59-A6C34878D82A}">
                    <a16:rowId xmlns:a16="http://schemas.microsoft.com/office/drawing/2014/main" val="1775592120"/>
                  </a:ext>
                </a:extLst>
              </a:tr>
              <a:tr h="425744">
                <a:tc>
                  <a:txBody>
                    <a:bodyPr/>
                    <a:lstStyle/>
                    <a:p>
                      <a:pPr marL="0" marR="0">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Y MANOJ</a:t>
                      </a:r>
                    </a:p>
                  </a:txBody>
                  <a:tcPr marL="98755" marR="98755" marT="0" marB="0">
                    <a:lnL>
                      <a:noFill/>
                    </a:lnL>
                    <a:lnR>
                      <a:noFill/>
                    </a:lnR>
                    <a:lnT>
                      <a:noFill/>
                    </a:lnT>
                    <a:lnB w="12700" cap="flat" cmpd="sng" algn="ctr">
                      <a:noFill/>
                      <a:prstDash val="solid"/>
                      <a:round/>
                      <a:headEnd type="none" w="med" len="med"/>
                      <a:tailEnd type="none" w="med" len="med"/>
                    </a:lnB>
                  </a:tcPr>
                </a:tc>
                <a:tc>
                  <a:txBody>
                    <a:bodyPr/>
                    <a:lstStyle/>
                    <a:p>
                      <a:pPr marL="0" marR="0" algn="r">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22751A3172</a:t>
                      </a:r>
                    </a:p>
                  </a:txBody>
                  <a:tcPr marL="98755" marR="98755" marT="0" marB="0">
                    <a:lnL>
                      <a:noFill/>
                    </a:lnL>
                    <a:lnR>
                      <a:noFill/>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1812963680"/>
                  </a:ext>
                </a:extLst>
              </a:tr>
              <a:tr h="425744">
                <a:tc>
                  <a:txBody>
                    <a:bodyPr/>
                    <a:lstStyle/>
                    <a:p>
                      <a:pPr marL="0" marR="0">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S MOKSHITH REDDY</a:t>
                      </a:r>
                    </a:p>
                  </a:txBody>
                  <a:tcPr marL="98755" marR="9875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r">
                        <a:lnSpc>
                          <a:spcPct val="115000"/>
                        </a:lnSpc>
                        <a:spcBef>
                          <a:spcPts val="0"/>
                        </a:spcBef>
                        <a:spcAft>
                          <a:spcPts val="0"/>
                        </a:spcAft>
                      </a:pPr>
                      <a:r>
                        <a:rPr lang="en-US" sz="1400" b="1" dirty="0">
                          <a:latin typeface="Times New Roman" panose="02020603050405020304" pitchFamily="18" charset="0"/>
                          <a:ea typeface="Calibri"/>
                          <a:cs typeface="Times New Roman" panose="02020603050405020304" pitchFamily="18" charset="0"/>
                        </a:rPr>
                        <a:t>22751A3163</a:t>
                      </a:r>
                    </a:p>
                  </a:txBody>
                  <a:tcPr marL="98755" marR="98755"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83406196"/>
                  </a:ext>
                </a:extLst>
              </a:tr>
            </a:tbl>
          </a:graphicData>
        </a:graphic>
      </p:graphicFrame>
    </p:spTree>
    <p:extLst>
      <p:ext uri="{BB962C8B-B14F-4D97-AF65-F5344CB8AC3E}">
        <p14:creationId xmlns:p14="http://schemas.microsoft.com/office/powerpoint/2010/main" val="2206079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5" name="Text 2"/>
          <p:cNvSpPr/>
          <p:nvPr/>
        </p:nvSpPr>
        <p:spPr>
          <a:xfrm>
            <a:off x="1840375" y="2442531"/>
            <a:ext cx="11516809" cy="4826369"/>
          </a:xfrm>
          <a:prstGeom prst="rect">
            <a:avLst/>
          </a:prstGeom>
          <a:noFill/>
          <a:ln/>
        </p:spPr>
        <p:txBody>
          <a:bodyPr wrap="square" lIns="0" tIns="0" rIns="0" bIns="0" rtlCol="0" anchor="t"/>
          <a:lstStyle/>
          <a:p>
            <a:pPr algn="just">
              <a:lnSpc>
                <a:spcPct val="150000"/>
              </a:lnSpc>
            </a:pPr>
            <a:r>
              <a:rPr lang="en-US" sz="2800" dirty="0">
                <a:latin typeface="Times New Roman" panose="02020603050405020304" pitchFamily="18" charset="0"/>
                <a:cs typeface="Times New Roman" panose="02020603050405020304" pitchFamily="18" charset="0"/>
              </a:rPr>
              <a:t>Steganography allows secret information to be hidden inside digital images without visibly altering the image. While this technique can be used for secure communication, it can also be misused to transmit hidden malicious code or sensitive data. This project proposes a secure chat system that automatically detects hidden information in images using steganography detection techniques. The system extracts embedded data and analyzes it to determine whether it contains programming code, thereby improving communication security.</a:t>
            </a:r>
          </a:p>
        </p:txBody>
      </p:sp>
      <p:sp>
        <p:nvSpPr>
          <p:cNvPr id="6" name="TextBox 5">
            <a:extLst>
              <a:ext uri="{FF2B5EF4-FFF2-40B4-BE49-F238E27FC236}">
                <a16:creationId xmlns:a16="http://schemas.microsoft.com/office/drawing/2014/main" id="{C0B30F21-538D-4CB4-839C-F85026415D4E}"/>
              </a:ext>
            </a:extLst>
          </p:cNvPr>
          <p:cNvSpPr txBox="1"/>
          <p:nvPr/>
        </p:nvSpPr>
        <p:spPr>
          <a:xfrm>
            <a:off x="5746831" y="705042"/>
            <a:ext cx="2887884" cy="923330"/>
          </a:xfrm>
          <a:prstGeom prst="rect">
            <a:avLst/>
          </a:prstGeom>
          <a:noFill/>
        </p:spPr>
        <p:txBody>
          <a:bodyPr wrap="square" rtlCol="0">
            <a:spAutoFit/>
          </a:bodyPr>
          <a:lstStyle/>
          <a:p>
            <a:pPr algn="ctr"/>
            <a:r>
              <a:rPr lang="en-US" sz="5400" b="1" dirty="0">
                <a:solidFill>
                  <a:srgbClr val="0070C0"/>
                </a:solidFill>
                <a:latin typeface="Times New Roman" panose="02020603050405020304" pitchFamily="18" charset="0"/>
                <a:cs typeface="Times New Roman" panose="02020603050405020304" pitchFamily="18" charset="0"/>
              </a:rPr>
              <a:t>Abstract</a:t>
            </a:r>
            <a:endParaRPr lang="en-IN" sz="5400" b="1" dirty="0">
              <a:solidFill>
                <a:srgbClr val="0070C0"/>
              </a:solidFill>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B3E67EF7-5602-4603-30E0-34487FE43899}"/>
              </a:ext>
            </a:extLst>
          </p:cNvPr>
          <p:cNvCxnSpPr/>
          <p:nvPr/>
        </p:nvCxnSpPr>
        <p:spPr>
          <a:xfrm>
            <a:off x="3788729" y="1895812"/>
            <a:ext cx="759192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1D8FE95-BA75-02E1-A508-9336B9F78BE4}"/>
              </a:ext>
            </a:extLst>
          </p:cNvPr>
          <p:cNvSpPr>
            <a:spLocks noChangeArrowheads="1"/>
          </p:cNvSpPr>
          <p:nvPr/>
        </p:nvSpPr>
        <p:spPr bwMode="auto">
          <a:xfrm>
            <a:off x="1996297" y="2357292"/>
            <a:ext cx="11601253" cy="3673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Steganography is a technique used to hide secret information inside images.</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Hidden data cannot be easily detected by the human eye.</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Attackers may use steganography to hide malicious code or sensitive information.</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messaging systems do not check images for hidden content.</a:t>
            </a:r>
          </a:p>
          <a:p>
            <a:pPr marL="342900" indent="-3429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a system is required to detect hidden data in images for secure communication.</a:t>
            </a:r>
          </a:p>
        </p:txBody>
      </p:sp>
      <p:sp>
        <p:nvSpPr>
          <p:cNvPr id="4" name="TextBox 3">
            <a:extLst>
              <a:ext uri="{FF2B5EF4-FFF2-40B4-BE49-F238E27FC236}">
                <a16:creationId xmlns:a16="http://schemas.microsoft.com/office/drawing/2014/main" id="{BA6BEA6C-25A9-71CA-299C-2076DE9D83B7}"/>
              </a:ext>
            </a:extLst>
          </p:cNvPr>
          <p:cNvSpPr txBox="1"/>
          <p:nvPr/>
        </p:nvSpPr>
        <p:spPr>
          <a:xfrm>
            <a:off x="5353290" y="1128257"/>
            <a:ext cx="3923818" cy="769441"/>
          </a:xfrm>
          <a:prstGeom prst="rect">
            <a:avLst/>
          </a:prstGeom>
          <a:noFill/>
        </p:spPr>
        <p:txBody>
          <a:bodyPr wrap="square" rtlCol="0">
            <a:spAutoFit/>
          </a:bodyPr>
          <a:lstStyle/>
          <a:p>
            <a:r>
              <a:rPr lang="en-IN" sz="4400" b="1" dirty="0">
                <a:solidFill>
                  <a:srgbClr val="0070C0"/>
                </a:solidFill>
                <a:latin typeface="Times New Roman" panose="02020603050405020304" pitchFamily="18" charset="0"/>
                <a:cs typeface="Times New Roman" panose="02020603050405020304" pitchFamily="18" charset="0"/>
              </a:rPr>
              <a:t>Introduction</a:t>
            </a:r>
          </a:p>
        </p:txBody>
      </p:sp>
      <p:cxnSp>
        <p:nvCxnSpPr>
          <p:cNvPr id="7" name="Straight Connector 6">
            <a:extLst>
              <a:ext uri="{FF2B5EF4-FFF2-40B4-BE49-F238E27FC236}">
                <a16:creationId xmlns:a16="http://schemas.microsoft.com/office/drawing/2014/main" id="{F449427F-1EA3-994A-F766-5D16441E910D}"/>
              </a:ext>
            </a:extLst>
          </p:cNvPr>
          <p:cNvCxnSpPr/>
          <p:nvPr/>
        </p:nvCxnSpPr>
        <p:spPr>
          <a:xfrm>
            <a:off x="3453063" y="2069432"/>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1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2F70-882F-C9C3-A7B0-D966F31428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1C6AF3-1229-30B8-FC8A-021F357853BC}"/>
              </a:ext>
            </a:extLst>
          </p:cNvPr>
          <p:cNvSpPr txBox="1"/>
          <p:nvPr/>
        </p:nvSpPr>
        <p:spPr>
          <a:xfrm>
            <a:off x="4600935" y="1371326"/>
            <a:ext cx="4901880" cy="769441"/>
          </a:xfrm>
          <a:prstGeom prst="rect">
            <a:avLst/>
          </a:prstGeom>
          <a:noFill/>
        </p:spPr>
        <p:txBody>
          <a:bodyPr wrap="square" rtlCol="0">
            <a:spAutoFit/>
          </a:bodyPr>
          <a:lstStyle/>
          <a:p>
            <a:r>
              <a:rPr lang="en-IN" sz="4400" b="1" dirty="0">
                <a:solidFill>
                  <a:srgbClr val="0070C0"/>
                </a:solidFill>
                <a:latin typeface="Times New Roman" panose="02020603050405020304" pitchFamily="18" charset="0"/>
                <a:cs typeface="Times New Roman" panose="02020603050405020304" pitchFamily="18" charset="0"/>
              </a:rPr>
              <a:t>Problem Statement</a:t>
            </a:r>
          </a:p>
        </p:txBody>
      </p:sp>
      <p:sp>
        <p:nvSpPr>
          <p:cNvPr id="5" name="Rectangle 2">
            <a:extLst>
              <a:ext uri="{FF2B5EF4-FFF2-40B4-BE49-F238E27FC236}">
                <a16:creationId xmlns:a16="http://schemas.microsoft.com/office/drawing/2014/main" id="{43DFFBC2-1796-DD3C-D851-F398F39782A1}"/>
              </a:ext>
            </a:extLst>
          </p:cNvPr>
          <p:cNvSpPr>
            <a:spLocks noChangeArrowheads="1"/>
          </p:cNvSpPr>
          <p:nvPr/>
        </p:nvSpPr>
        <p:spPr bwMode="auto">
          <a:xfrm>
            <a:off x="2453833" y="2410744"/>
            <a:ext cx="11139588" cy="34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Images can be used to secretly transmit hidden data.</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Hidden information may contain malicious scripts or programming code.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chat systems lack automatic steganography detection mechanisms.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creates security vulnerabilities in digital communication.</a:t>
            </a:r>
          </a:p>
        </p:txBody>
      </p:sp>
      <p:cxnSp>
        <p:nvCxnSpPr>
          <p:cNvPr id="6" name="Straight Connector 5">
            <a:extLst>
              <a:ext uri="{FF2B5EF4-FFF2-40B4-BE49-F238E27FC236}">
                <a16:creationId xmlns:a16="http://schemas.microsoft.com/office/drawing/2014/main" id="{4F6C524C-22F1-99D5-1D9A-E3BB35A438DC}"/>
              </a:ext>
            </a:extLst>
          </p:cNvPr>
          <p:cNvCxnSpPr/>
          <p:nvPr/>
        </p:nvCxnSpPr>
        <p:spPr>
          <a:xfrm>
            <a:off x="3519237" y="2408308"/>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6690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71310" y="104759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70C0"/>
                </a:solidFill>
                <a:latin typeface="Times New Roman" panose="02020603050405020304" pitchFamily="18" charset="0"/>
                <a:ea typeface="DM Sans Semi Bold" pitchFamily="34" charset="-122"/>
                <a:cs typeface="Times New Roman" panose="02020603050405020304" pitchFamily="18" charset="0"/>
              </a:rPr>
              <a:t>Project</a:t>
            </a:r>
            <a:r>
              <a:rPr lang="en-US" sz="4450" dirty="0">
                <a:solidFill>
                  <a:srgbClr val="0070C0"/>
                </a:solidFill>
                <a:latin typeface="Times New Roman" panose="02020603050405020304" pitchFamily="18" charset="0"/>
                <a:ea typeface="DM Sans Semi Bold" pitchFamily="34" charset="-122"/>
                <a:cs typeface="Times New Roman" panose="02020603050405020304" pitchFamily="18" charset="0"/>
              </a:rPr>
              <a:t> </a:t>
            </a:r>
            <a:r>
              <a:rPr lang="en-US" sz="4450" b="1" dirty="0">
                <a:solidFill>
                  <a:srgbClr val="0070C0"/>
                </a:solidFill>
                <a:latin typeface="Times New Roman" panose="02020603050405020304" pitchFamily="18" charset="0"/>
                <a:ea typeface="DM Sans Semi Bold" pitchFamily="34" charset="-122"/>
                <a:cs typeface="Times New Roman" panose="02020603050405020304" pitchFamily="18" charset="0"/>
              </a:rPr>
              <a:t>Objectives</a:t>
            </a:r>
            <a:endParaRPr lang="en-US" sz="4450" b="1" dirty="0">
              <a:solidFill>
                <a:srgbClr val="0070C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A2E330B-1B18-B195-B832-D2D1F970D760}"/>
              </a:ext>
            </a:extLst>
          </p:cNvPr>
          <p:cNvSpPr>
            <a:spLocks noChangeArrowheads="1"/>
          </p:cNvSpPr>
          <p:nvPr/>
        </p:nvSpPr>
        <p:spPr bwMode="auto">
          <a:xfrm>
            <a:off x="2078581" y="2102308"/>
            <a:ext cx="11370420" cy="42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hidden data embedded inside images using steganography techniques.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the concealed information from </a:t>
            </a: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the extracted content to identify programming code.</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the user if suspicious or malicious code is detected.</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the security of image-based communication systems.</a:t>
            </a:r>
          </a:p>
        </p:txBody>
      </p:sp>
      <p:cxnSp>
        <p:nvCxnSpPr>
          <p:cNvPr id="4" name="Straight Connector 3">
            <a:extLst>
              <a:ext uri="{FF2B5EF4-FFF2-40B4-BE49-F238E27FC236}">
                <a16:creationId xmlns:a16="http://schemas.microsoft.com/office/drawing/2014/main" id="{E5A4B863-587B-C323-539A-0BEA12D96D45}"/>
              </a:ext>
            </a:extLst>
          </p:cNvPr>
          <p:cNvCxnSpPr/>
          <p:nvPr/>
        </p:nvCxnSpPr>
        <p:spPr>
          <a:xfrm>
            <a:off x="3279442" y="1930536"/>
            <a:ext cx="759192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2621B-32F6-0B3B-25A3-BB52A560C7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679BA6-20CE-9EF6-2416-C1E6784ADA9D}"/>
              </a:ext>
            </a:extLst>
          </p:cNvPr>
          <p:cNvSpPr/>
          <p:nvPr/>
        </p:nvSpPr>
        <p:spPr>
          <a:xfrm>
            <a:off x="4671310" y="104759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70C0"/>
                </a:solidFill>
                <a:latin typeface="Times New Roman" panose="02020603050405020304" pitchFamily="18" charset="0"/>
                <a:ea typeface="DM Sans Semi Bold" pitchFamily="34" charset="-122"/>
                <a:cs typeface="Times New Roman" panose="02020603050405020304" pitchFamily="18" charset="0"/>
              </a:rPr>
              <a:t>Project</a:t>
            </a:r>
            <a:r>
              <a:rPr lang="en-US" sz="4450" dirty="0">
                <a:solidFill>
                  <a:srgbClr val="0070C0"/>
                </a:solidFill>
                <a:latin typeface="Times New Roman" panose="02020603050405020304" pitchFamily="18" charset="0"/>
                <a:ea typeface="DM Sans Semi Bold" pitchFamily="34" charset="-122"/>
                <a:cs typeface="Times New Roman" panose="02020603050405020304" pitchFamily="18" charset="0"/>
              </a:rPr>
              <a:t> </a:t>
            </a:r>
            <a:r>
              <a:rPr lang="en-US" sz="4450" b="1" dirty="0">
                <a:solidFill>
                  <a:srgbClr val="0070C0"/>
                </a:solidFill>
                <a:latin typeface="Times New Roman" panose="02020603050405020304" pitchFamily="18" charset="0"/>
                <a:ea typeface="DM Sans Semi Bold" pitchFamily="34" charset="-122"/>
                <a:cs typeface="Times New Roman" panose="02020603050405020304" pitchFamily="18" charset="0"/>
              </a:rPr>
              <a:t>Objectives</a:t>
            </a:r>
            <a:endParaRPr lang="en-US" sz="4450" b="1" dirty="0">
              <a:solidFill>
                <a:srgbClr val="0070C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A3551BD3-5BE1-5847-5FDE-9A88F8DBC3EF}"/>
              </a:ext>
            </a:extLst>
          </p:cNvPr>
          <p:cNvSpPr>
            <a:spLocks noChangeArrowheads="1"/>
          </p:cNvSpPr>
          <p:nvPr/>
        </p:nvSpPr>
        <p:spPr bwMode="auto">
          <a:xfrm>
            <a:off x="2078581" y="2102308"/>
            <a:ext cx="11370420" cy="42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hidden data embedded inside images using steganography techniques.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the concealed information from </a:t>
            </a: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the extracted content to identify programming code.</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the user if suspicious or malicious code is detected.</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the security of image-based communication systems.</a:t>
            </a:r>
          </a:p>
        </p:txBody>
      </p:sp>
      <p:cxnSp>
        <p:nvCxnSpPr>
          <p:cNvPr id="4" name="Straight Connector 3">
            <a:extLst>
              <a:ext uri="{FF2B5EF4-FFF2-40B4-BE49-F238E27FC236}">
                <a16:creationId xmlns:a16="http://schemas.microsoft.com/office/drawing/2014/main" id="{D478072E-53B0-131D-C0EF-47B44ABE1464}"/>
              </a:ext>
            </a:extLst>
          </p:cNvPr>
          <p:cNvCxnSpPr/>
          <p:nvPr/>
        </p:nvCxnSpPr>
        <p:spPr>
          <a:xfrm>
            <a:off x="3105822" y="1884237"/>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191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4A8D34-AFAC-8748-14D4-D9BB66DA25A7}"/>
              </a:ext>
            </a:extLst>
          </p:cNvPr>
          <p:cNvSpPr txBox="1"/>
          <p:nvPr/>
        </p:nvSpPr>
        <p:spPr>
          <a:xfrm>
            <a:off x="5469038" y="773674"/>
            <a:ext cx="3692324" cy="707886"/>
          </a:xfrm>
          <a:prstGeom prst="rect">
            <a:avLst/>
          </a:prstGeom>
          <a:noFill/>
        </p:spPr>
        <p:txBody>
          <a:bodyPr wrap="square" rtlCol="0">
            <a:spAutoFit/>
          </a:bodyPr>
          <a:lstStyle/>
          <a:p>
            <a:r>
              <a:rPr lang="en-IN" sz="4000" b="1" dirty="0">
                <a:solidFill>
                  <a:srgbClr val="0070C0"/>
                </a:solidFill>
                <a:latin typeface="Times New Roman" panose="02020603050405020304" pitchFamily="18" charset="0"/>
                <a:cs typeface="Times New Roman" panose="02020603050405020304" pitchFamily="18" charset="0"/>
              </a:rPr>
              <a:t>Existing System</a:t>
            </a:r>
          </a:p>
        </p:txBody>
      </p:sp>
      <p:sp>
        <p:nvSpPr>
          <p:cNvPr id="9" name="TextBox 8">
            <a:extLst>
              <a:ext uri="{FF2B5EF4-FFF2-40B4-BE49-F238E27FC236}">
                <a16:creationId xmlns:a16="http://schemas.microsoft.com/office/drawing/2014/main" id="{AC7928F9-1540-413C-3115-D446D56F43CE}"/>
              </a:ext>
            </a:extLst>
          </p:cNvPr>
          <p:cNvSpPr txBox="1"/>
          <p:nvPr/>
        </p:nvSpPr>
        <p:spPr>
          <a:xfrm>
            <a:off x="1238492" y="2271944"/>
            <a:ext cx="12570106" cy="6038641"/>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Existing systems for image-based communication primarily focus on secure transmission through encryption and access control. Images are shared without analyzing their internal content for hidden data. Traditional steganalysis methods rely on basic statistical features or offline inspection and are not integrated into real-time systems. As a result, images containing concealed information can easily pass through communication channels without detection.</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Disadvantages of Existing System</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automatic detection of hidden data in images.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Vulnerable to LSB-based steganographic attacks.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Hidden malicious code can be transmitted undetected.</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methods show low detection accuracy.</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real-time monitoring and alert mechanisms.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67775D46-E3E7-F72A-FEE3-F658D5B6B66B}"/>
              </a:ext>
            </a:extLst>
          </p:cNvPr>
          <p:cNvCxnSpPr/>
          <p:nvPr/>
        </p:nvCxnSpPr>
        <p:spPr>
          <a:xfrm>
            <a:off x="3453063" y="1722191"/>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288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8177E-61CA-EC10-BAB5-BE8B0FC02C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453295-7ACC-C0B9-F48D-210A43BABB10}"/>
              </a:ext>
            </a:extLst>
          </p:cNvPr>
          <p:cNvSpPr txBox="1"/>
          <p:nvPr/>
        </p:nvSpPr>
        <p:spPr>
          <a:xfrm>
            <a:off x="5469038" y="773674"/>
            <a:ext cx="3975904" cy="707886"/>
          </a:xfrm>
          <a:prstGeom prst="rect">
            <a:avLst/>
          </a:prstGeom>
          <a:noFill/>
        </p:spPr>
        <p:txBody>
          <a:bodyPr wrap="square" rtlCol="0">
            <a:spAutoFit/>
          </a:bodyPr>
          <a:lstStyle/>
          <a:p>
            <a:r>
              <a:rPr lang="en-IN" sz="4000" b="1" dirty="0">
                <a:solidFill>
                  <a:srgbClr val="0070C0"/>
                </a:solidFill>
                <a:latin typeface="Times New Roman" panose="02020603050405020304" pitchFamily="18" charset="0"/>
                <a:cs typeface="Times New Roman" panose="02020603050405020304" pitchFamily="18" charset="0"/>
              </a:rPr>
              <a:t>Proposed System</a:t>
            </a:r>
          </a:p>
        </p:txBody>
      </p:sp>
      <p:sp>
        <p:nvSpPr>
          <p:cNvPr id="4" name="Rectangle 1">
            <a:extLst>
              <a:ext uri="{FF2B5EF4-FFF2-40B4-BE49-F238E27FC236}">
                <a16:creationId xmlns:a16="http://schemas.microsoft.com/office/drawing/2014/main" id="{E8913A33-5A99-31BD-5B16-26CFFA681130}"/>
              </a:ext>
            </a:extLst>
          </p:cNvPr>
          <p:cNvSpPr>
            <a:spLocks noChangeArrowheads="1"/>
          </p:cNvSpPr>
          <p:nvPr/>
        </p:nvSpPr>
        <p:spPr bwMode="auto">
          <a:xfrm>
            <a:off x="1377387" y="2146255"/>
            <a:ext cx="12477509"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secure chat-based communication system that automatically scans images for hidden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an image is received, it undergoes preprocessing such as format verification, resizing, and normalization.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performs steganography detection to identify whether hidden information exists in the image.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hidden data is detected, the system extracts the embedded payload using LSB extraction.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content is analyzed to determine whether it contains programming code.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suspicious code is found, the system generates a security alert and logs the detection event.</a:t>
            </a:r>
          </a:p>
        </p:txBody>
      </p:sp>
      <p:cxnSp>
        <p:nvCxnSpPr>
          <p:cNvPr id="5" name="Straight Connector 4">
            <a:extLst>
              <a:ext uri="{FF2B5EF4-FFF2-40B4-BE49-F238E27FC236}">
                <a16:creationId xmlns:a16="http://schemas.microsoft.com/office/drawing/2014/main" id="{0D754E05-AA1E-B976-CC2D-F871E9707E07}"/>
              </a:ext>
            </a:extLst>
          </p:cNvPr>
          <p:cNvCxnSpPr/>
          <p:nvPr/>
        </p:nvCxnSpPr>
        <p:spPr>
          <a:xfrm>
            <a:off x="3754004" y="1710616"/>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13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AD9C3C-1B41-5722-6F38-D26FB13135A3}"/>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975330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05196" y="763074"/>
            <a:ext cx="4820007" cy="602456"/>
          </a:xfrm>
          <a:prstGeom prst="rect">
            <a:avLst/>
          </a:prstGeom>
          <a:noFill/>
          <a:ln/>
        </p:spPr>
        <p:txBody>
          <a:bodyPr wrap="none" lIns="0" tIns="0" rIns="0" bIns="0" rtlCol="0" anchor="t"/>
          <a:lstStyle/>
          <a:p>
            <a:pPr marL="0" indent="0">
              <a:lnSpc>
                <a:spcPts val="4700"/>
              </a:lnSpc>
              <a:buNone/>
            </a:pPr>
            <a:r>
              <a:rPr lang="en-US" sz="3200" b="1" dirty="0">
                <a:solidFill>
                  <a:srgbClr val="0070C0"/>
                </a:solidFill>
                <a:latin typeface="Times New Roman" panose="02020603050405020304" pitchFamily="18" charset="0"/>
                <a:ea typeface="DM Sans Semi Bold" pitchFamily="34" charset="-122"/>
                <a:cs typeface="Times New Roman" panose="02020603050405020304" pitchFamily="18" charset="0"/>
              </a:rPr>
              <a:t>System Workflow</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Text 1"/>
          <p:cNvSpPr/>
          <p:nvPr/>
        </p:nvSpPr>
        <p:spPr>
          <a:xfrm>
            <a:off x="1921550" y="1880592"/>
            <a:ext cx="2409944" cy="301228"/>
          </a:xfrm>
          <a:prstGeom prst="rect">
            <a:avLst/>
          </a:prstGeom>
          <a:noFill/>
          <a:ln/>
        </p:spPr>
        <p:txBody>
          <a:bodyPr wrap="none" lIns="0" tIns="0" rIns="0" bIns="0" rtlCol="0" anchor="t"/>
          <a:lstStyle/>
          <a:p>
            <a:pPr marL="342900" indent="-342900" algn="l">
              <a:lnSpc>
                <a:spcPts val="2350"/>
              </a:lnSpc>
              <a:buFont typeface="Arial" panose="020B0604020202020204" pitchFamily="34" charset="0"/>
              <a:buChar char="•"/>
            </a:pPr>
            <a:r>
              <a:rPr lang="en-US" sz="2000" b="1" dirty="0">
                <a:solidFill>
                  <a:srgbClr val="464646"/>
                </a:solidFill>
                <a:latin typeface="Times New Roman" panose="02020603050405020304" pitchFamily="18" charset="0"/>
                <a:ea typeface="DM Sans Semi Bold" pitchFamily="34" charset="-122"/>
                <a:cs typeface="Times New Roman" panose="02020603050405020304" pitchFamily="18" charset="0"/>
              </a:rPr>
              <a:t>User Sends Message</a:t>
            </a:r>
            <a:endParaRPr lang="en-US" sz="2000" b="1" dirty="0">
              <a:latin typeface="Times New Roman" panose="02020603050405020304" pitchFamily="18" charset="0"/>
              <a:cs typeface="Times New Roman" panose="02020603050405020304" pitchFamily="18" charset="0"/>
            </a:endParaRPr>
          </a:p>
        </p:txBody>
      </p:sp>
      <p:sp>
        <p:nvSpPr>
          <p:cNvPr id="5" name="Text 2"/>
          <p:cNvSpPr/>
          <p:nvPr/>
        </p:nvSpPr>
        <p:spPr>
          <a:xfrm>
            <a:off x="1921550" y="2280047"/>
            <a:ext cx="11915061" cy="285274"/>
          </a:xfrm>
          <a:prstGeom prst="rect">
            <a:avLst/>
          </a:prstGeom>
          <a:noFill/>
          <a:ln/>
        </p:spPr>
        <p:txBody>
          <a:bodyPr wrap="none" lIns="0" tIns="0" rIns="0" bIns="0" rtlCol="0" anchor="t"/>
          <a:lstStyle/>
          <a:p>
            <a:pPr marL="0" indent="0" algn="l">
              <a:lnSpc>
                <a:spcPts val="2200"/>
              </a:lnSpc>
              <a:buNone/>
            </a:pPr>
            <a:r>
              <a:rPr lang="en-US" sz="2000" dirty="0">
                <a:solidFill>
                  <a:srgbClr val="464646"/>
                </a:solidFill>
                <a:latin typeface="Times New Roman" panose="02020603050405020304" pitchFamily="18" charset="0"/>
                <a:ea typeface="Inter Medium" pitchFamily="34" charset="-122"/>
                <a:cs typeface="Times New Roman" panose="02020603050405020304" pitchFamily="18" charset="0"/>
              </a:rPr>
              <a:t>Client transmits text or image through encrypted channel to server</a:t>
            </a:r>
            <a:endParaRPr lang="en-US" sz="2000" dirty="0">
              <a:latin typeface="Times New Roman" panose="02020603050405020304" pitchFamily="18" charset="0"/>
              <a:cs typeface="Times New Roman" panose="02020603050405020304" pitchFamily="18" charset="0"/>
            </a:endParaRPr>
          </a:p>
        </p:txBody>
      </p:sp>
      <p:sp>
        <p:nvSpPr>
          <p:cNvPr id="7" name="Text 3"/>
          <p:cNvSpPr/>
          <p:nvPr/>
        </p:nvSpPr>
        <p:spPr>
          <a:xfrm>
            <a:off x="1921550" y="3037403"/>
            <a:ext cx="2440900" cy="301228"/>
          </a:xfrm>
          <a:prstGeom prst="rect">
            <a:avLst/>
          </a:prstGeom>
          <a:noFill/>
          <a:ln/>
        </p:spPr>
        <p:txBody>
          <a:bodyPr wrap="none" lIns="0" tIns="0" rIns="0" bIns="0" rtlCol="0" anchor="t"/>
          <a:lstStyle/>
          <a:p>
            <a:pPr marL="342900" indent="-342900" algn="l">
              <a:lnSpc>
                <a:spcPts val="2350"/>
              </a:lnSpc>
              <a:buFont typeface="Arial" panose="020B0604020202020204" pitchFamily="34" charset="0"/>
              <a:buChar char="•"/>
            </a:pPr>
            <a:r>
              <a:rPr lang="en-US" sz="2000" b="1" dirty="0">
                <a:solidFill>
                  <a:srgbClr val="464646"/>
                </a:solidFill>
                <a:latin typeface="Times New Roman" panose="02020603050405020304" pitchFamily="18" charset="0"/>
                <a:ea typeface="DM Sans Semi Bold" pitchFamily="34" charset="-122"/>
                <a:cs typeface="Times New Roman" panose="02020603050405020304" pitchFamily="18" charset="0"/>
              </a:rPr>
              <a:t>Server Receives Data</a:t>
            </a:r>
            <a:endParaRPr lang="en-US" sz="2000" b="1" dirty="0">
              <a:latin typeface="Times New Roman" panose="02020603050405020304" pitchFamily="18" charset="0"/>
              <a:cs typeface="Times New Roman" panose="02020603050405020304" pitchFamily="18" charset="0"/>
            </a:endParaRPr>
          </a:p>
        </p:txBody>
      </p:sp>
      <p:sp>
        <p:nvSpPr>
          <p:cNvPr id="8" name="Text 4"/>
          <p:cNvSpPr/>
          <p:nvPr/>
        </p:nvSpPr>
        <p:spPr>
          <a:xfrm>
            <a:off x="1921550" y="3436858"/>
            <a:ext cx="11915061" cy="285274"/>
          </a:xfrm>
          <a:prstGeom prst="rect">
            <a:avLst/>
          </a:prstGeom>
          <a:noFill/>
          <a:ln/>
        </p:spPr>
        <p:txBody>
          <a:bodyPr wrap="none" lIns="0" tIns="0" rIns="0" bIns="0" rtlCol="0" anchor="t"/>
          <a:lstStyle/>
          <a:p>
            <a:pPr marL="0" indent="0" algn="l">
              <a:lnSpc>
                <a:spcPts val="2200"/>
              </a:lnSpc>
              <a:buNone/>
            </a:pPr>
            <a:r>
              <a:rPr lang="en-US" sz="2000" dirty="0">
                <a:solidFill>
                  <a:srgbClr val="464646"/>
                </a:solidFill>
                <a:latin typeface="Times New Roman" panose="02020603050405020304" pitchFamily="18" charset="0"/>
                <a:ea typeface="Inter Medium" pitchFamily="34" charset="-122"/>
                <a:cs typeface="Times New Roman" panose="02020603050405020304" pitchFamily="18" charset="0"/>
              </a:rPr>
              <a:t>Backend validates, authenticates, and queues content for processing</a:t>
            </a:r>
            <a:endParaRPr lang="en-US" sz="2000" dirty="0">
              <a:latin typeface="Times New Roman" panose="02020603050405020304" pitchFamily="18" charset="0"/>
              <a:cs typeface="Times New Roman" panose="02020603050405020304" pitchFamily="18" charset="0"/>
            </a:endParaRPr>
          </a:p>
        </p:txBody>
      </p:sp>
      <p:sp>
        <p:nvSpPr>
          <p:cNvPr id="10" name="Text 5"/>
          <p:cNvSpPr/>
          <p:nvPr/>
        </p:nvSpPr>
        <p:spPr>
          <a:xfrm>
            <a:off x="1921550" y="4194215"/>
            <a:ext cx="2754273" cy="301228"/>
          </a:xfrm>
          <a:prstGeom prst="rect">
            <a:avLst/>
          </a:prstGeom>
          <a:noFill/>
          <a:ln/>
        </p:spPr>
        <p:txBody>
          <a:bodyPr wrap="none" lIns="0" tIns="0" rIns="0" bIns="0" rtlCol="0" anchor="t"/>
          <a:lstStyle/>
          <a:p>
            <a:pPr marL="342900" indent="-342900" algn="l">
              <a:lnSpc>
                <a:spcPts val="2350"/>
              </a:lnSpc>
              <a:buFont typeface="Arial" panose="020B0604020202020204" pitchFamily="34" charset="0"/>
              <a:buChar char="•"/>
            </a:pPr>
            <a:r>
              <a:rPr lang="en-US" sz="2000" b="1" dirty="0">
                <a:solidFill>
                  <a:srgbClr val="464646"/>
                </a:solidFill>
                <a:latin typeface="Times New Roman" panose="02020603050405020304" pitchFamily="18" charset="0"/>
                <a:ea typeface="DM Sans Semi Bold" pitchFamily="34" charset="-122"/>
                <a:cs typeface="Times New Roman" panose="02020603050405020304" pitchFamily="18" charset="0"/>
              </a:rPr>
              <a:t>Image Analysis Initiated</a:t>
            </a:r>
            <a:endParaRPr lang="en-US" sz="2000" b="1" dirty="0">
              <a:latin typeface="Times New Roman" panose="02020603050405020304" pitchFamily="18" charset="0"/>
              <a:cs typeface="Times New Roman" panose="02020603050405020304" pitchFamily="18" charset="0"/>
            </a:endParaRPr>
          </a:p>
        </p:txBody>
      </p:sp>
      <p:sp>
        <p:nvSpPr>
          <p:cNvPr id="11" name="Text 6"/>
          <p:cNvSpPr/>
          <p:nvPr/>
        </p:nvSpPr>
        <p:spPr>
          <a:xfrm>
            <a:off x="1921550" y="4593669"/>
            <a:ext cx="11915061" cy="285274"/>
          </a:xfrm>
          <a:prstGeom prst="rect">
            <a:avLst/>
          </a:prstGeom>
          <a:noFill/>
          <a:ln/>
        </p:spPr>
        <p:txBody>
          <a:bodyPr wrap="none" lIns="0" tIns="0" rIns="0" bIns="0" rtlCol="0" anchor="t"/>
          <a:lstStyle/>
          <a:p>
            <a:pPr marL="0" indent="0" algn="l">
              <a:lnSpc>
                <a:spcPts val="2200"/>
              </a:lnSpc>
              <a:buNone/>
            </a:pPr>
            <a:r>
              <a:rPr lang="en-US" sz="2000" dirty="0">
                <a:solidFill>
                  <a:srgbClr val="464646"/>
                </a:solidFill>
                <a:latin typeface="Times New Roman" panose="02020603050405020304" pitchFamily="18" charset="0"/>
                <a:ea typeface="Inter Medium" pitchFamily="34" charset="-122"/>
                <a:cs typeface="Times New Roman" panose="02020603050405020304" pitchFamily="18" charset="0"/>
              </a:rPr>
              <a:t>Steganography detection module examines pixel data and bit patterns</a:t>
            </a:r>
            <a:endParaRPr lang="en-US" sz="2000" dirty="0">
              <a:latin typeface="Times New Roman" panose="02020603050405020304" pitchFamily="18" charset="0"/>
              <a:cs typeface="Times New Roman" panose="02020603050405020304" pitchFamily="18" charset="0"/>
            </a:endParaRPr>
          </a:p>
        </p:txBody>
      </p:sp>
      <p:sp>
        <p:nvSpPr>
          <p:cNvPr id="13" name="Text 7"/>
          <p:cNvSpPr/>
          <p:nvPr/>
        </p:nvSpPr>
        <p:spPr>
          <a:xfrm>
            <a:off x="1921550" y="5351026"/>
            <a:ext cx="2409944" cy="301228"/>
          </a:xfrm>
          <a:prstGeom prst="rect">
            <a:avLst/>
          </a:prstGeom>
          <a:noFill/>
          <a:ln/>
        </p:spPr>
        <p:txBody>
          <a:bodyPr wrap="none" lIns="0" tIns="0" rIns="0" bIns="0" rtlCol="0" anchor="t"/>
          <a:lstStyle/>
          <a:p>
            <a:pPr marL="342900" indent="-342900" algn="l">
              <a:lnSpc>
                <a:spcPts val="2350"/>
              </a:lnSpc>
              <a:buFont typeface="Arial" panose="020B0604020202020204" pitchFamily="34" charset="0"/>
              <a:buChar char="•"/>
            </a:pPr>
            <a:r>
              <a:rPr lang="en-US" sz="2000" b="1" dirty="0">
                <a:solidFill>
                  <a:srgbClr val="464646"/>
                </a:solidFill>
                <a:latin typeface="Times New Roman" panose="02020603050405020304" pitchFamily="18" charset="0"/>
                <a:ea typeface="DM Sans Semi Bold" pitchFamily="34" charset="-122"/>
                <a:cs typeface="Times New Roman" panose="02020603050405020304" pitchFamily="18" charset="0"/>
              </a:rPr>
              <a:t>Payload Extraction</a:t>
            </a:r>
            <a:endParaRPr lang="en-US" sz="2000" b="1" dirty="0">
              <a:latin typeface="Times New Roman" panose="02020603050405020304" pitchFamily="18" charset="0"/>
              <a:cs typeface="Times New Roman" panose="02020603050405020304" pitchFamily="18" charset="0"/>
            </a:endParaRPr>
          </a:p>
        </p:txBody>
      </p:sp>
      <p:sp>
        <p:nvSpPr>
          <p:cNvPr id="14" name="Text 8"/>
          <p:cNvSpPr/>
          <p:nvPr/>
        </p:nvSpPr>
        <p:spPr>
          <a:xfrm>
            <a:off x="1921550" y="5750481"/>
            <a:ext cx="11915061" cy="285274"/>
          </a:xfrm>
          <a:prstGeom prst="rect">
            <a:avLst/>
          </a:prstGeom>
          <a:noFill/>
          <a:ln/>
        </p:spPr>
        <p:txBody>
          <a:bodyPr wrap="none" lIns="0" tIns="0" rIns="0" bIns="0" rtlCol="0" anchor="t"/>
          <a:lstStyle/>
          <a:p>
            <a:pPr marL="0" indent="0" algn="l">
              <a:lnSpc>
                <a:spcPts val="2200"/>
              </a:lnSpc>
              <a:buNone/>
            </a:pPr>
            <a:r>
              <a:rPr lang="en-US" sz="2000" dirty="0">
                <a:solidFill>
                  <a:srgbClr val="464646"/>
                </a:solidFill>
                <a:latin typeface="Times New Roman" panose="02020603050405020304" pitchFamily="18" charset="0"/>
                <a:ea typeface="Inter Medium" pitchFamily="34" charset="-122"/>
                <a:cs typeface="Times New Roman" panose="02020603050405020304" pitchFamily="18" charset="0"/>
              </a:rPr>
              <a:t>Hidden data is decoded and extracted from image if detected</a:t>
            </a:r>
            <a:endParaRPr lang="en-US" sz="2000" dirty="0">
              <a:latin typeface="Times New Roman" panose="02020603050405020304" pitchFamily="18" charset="0"/>
              <a:cs typeface="Times New Roman" panose="02020603050405020304" pitchFamily="18" charset="0"/>
            </a:endParaRPr>
          </a:p>
        </p:txBody>
      </p:sp>
      <p:sp>
        <p:nvSpPr>
          <p:cNvPr id="16" name="Text 9"/>
          <p:cNvSpPr/>
          <p:nvPr/>
        </p:nvSpPr>
        <p:spPr>
          <a:xfrm>
            <a:off x="1921550" y="6507837"/>
            <a:ext cx="2409944" cy="301228"/>
          </a:xfrm>
          <a:prstGeom prst="rect">
            <a:avLst/>
          </a:prstGeom>
          <a:noFill/>
          <a:ln/>
        </p:spPr>
        <p:txBody>
          <a:bodyPr wrap="none" lIns="0" tIns="0" rIns="0" bIns="0" rtlCol="0" anchor="t"/>
          <a:lstStyle/>
          <a:p>
            <a:pPr marL="342900" indent="-342900" algn="l">
              <a:lnSpc>
                <a:spcPts val="2350"/>
              </a:lnSpc>
              <a:buFont typeface="Arial" panose="020B0604020202020204" pitchFamily="34" charset="0"/>
              <a:buChar char="•"/>
            </a:pPr>
            <a:r>
              <a:rPr lang="en-US" sz="2000" b="1" dirty="0">
                <a:solidFill>
                  <a:srgbClr val="464646"/>
                </a:solidFill>
                <a:latin typeface="Times New Roman" panose="02020603050405020304" pitchFamily="18" charset="0"/>
                <a:ea typeface="DM Sans Semi Bold" pitchFamily="34" charset="-122"/>
                <a:cs typeface="Times New Roman" panose="02020603050405020304" pitchFamily="18" charset="0"/>
              </a:rPr>
              <a:t>User Notification</a:t>
            </a:r>
            <a:endParaRPr lang="en-US" sz="2000" b="1" dirty="0">
              <a:latin typeface="Times New Roman" panose="02020603050405020304" pitchFamily="18" charset="0"/>
              <a:cs typeface="Times New Roman" panose="02020603050405020304" pitchFamily="18" charset="0"/>
            </a:endParaRPr>
          </a:p>
        </p:txBody>
      </p:sp>
      <p:sp>
        <p:nvSpPr>
          <p:cNvPr id="17" name="Text 10"/>
          <p:cNvSpPr/>
          <p:nvPr/>
        </p:nvSpPr>
        <p:spPr>
          <a:xfrm>
            <a:off x="1921550" y="6907292"/>
            <a:ext cx="11915061" cy="285274"/>
          </a:xfrm>
          <a:prstGeom prst="rect">
            <a:avLst/>
          </a:prstGeom>
          <a:noFill/>
          <a:ln/>
        </p:spPr>
        <p:txBody>
          <a:bodyPr wrap="none" lIns="0" tIns="0" rIns="0" bIns="0" rtlCol="0" anchor="t"/>
          <a:lstStyle/>
          <a:p>
            <a:pPr marL="0" indent="0" algn="l">
              <a:lnSpc>
                <a:spcPts val="2200"/>
              </a:lnSpc>
              <a:buNone/>
            </a:pPr>
            <a:r>
              <a:rPr lang="en-US" sz="2000" dirty="0">
                <a:solidFill>
                  <a:srgbClr val="464646"/>
                </a:solidFill>
                <a:latin typeface="Times New Roman" panose="02020603050405020304" pitchFamily="18" charset="0"/>
                <a:ea typeface="Inter Medium" pitchFamily="34" charset="-122"/>
                <a:cs typeface="Times New Roman" panose="02020603050405020304" pitchFamily="18" charset="0"/>
              </a:rPr>
              <a:t>System alerts recipient if suspicious code or data is identified</a:t>
            </a:r>
            <a:endParaRPr lang="en-US" sz="2000" dirty="0">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07F746AA-9EF8-9F39-971A-F8F4B25C5B57}"/>
              </a:ext>
            </a:extLst>
          </p:cNvPr>
          <p:cNvCxnSpPr/>
          <p:nvPr/>
        </p:nvCxnSpPr>
        <p:spPr>
          <a:xfrm>
            <a:off x="2781732" y="1536997"/>
            <a:ext cx="759192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7C3F5-88BE-71D6-4418-CC74AC8D0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A28ADD-5903-DEF8-7B42-598C8783D8F9}"/>
              </a:ext>
            </a:extLst>
          </p:cNvPr>
          <p:cNvSpPr txBox="1"/>
          <p:nvPr/>
        </p:nvSpPr>
        <p:spPr>
          <a:xfrm>
            <a:off x="5469038" y="773674"/>
            <a:ext cx="3692324" cy="707886"/>
          </a:xfrm>
          <a:prstGeom prst="rect">
            <a:avLst/>
          </a:prstGeom>
          <a:noFill/>
        </p:spPr>
        <p:txBody>
          <a:bodyPr wrap="square" rtlCol="0">
            <a:spAutoFit/>
          </a:bodyPr>
          <a:lstStyle/>
          <a:p>
            <a:r>
              <a:rPr lang="en-IN" sz="4000" b="1" dirty="0">
                <a:solidFill>
                  <a:srgbClr val="0070C0"/>
                </a:solidFill>
                <a:latin typeface="Times New Roman" panose="02020603050405020304" pitchFamily="18" charset="0"/>
                <a:cs typeface="Times New Roman" panose="02020603050405020304" pitchFamily="18" charset="0"/>
              </a:rPr>
              <a:t>Dataset Used</a:t>
            </a:r>
          </a:p>
        </p:txBody>
      </p:sp>
      <p:sp>
        <p:nvSpPr>
          <p:cNvPr id="3" name="Rectangle 1">
            <a:extLst>
              <a:ext uri="{FF2B5EF4-FFF2-40B4-BE49-F238E27FC236}">
                <a16:creationId xmlns:a16="http://schemas.microsoft.com/office/drawing/2014/main" id="{91B9FFCF-6702-FA0E-AE6C-E3A23318F433}"/>
              </a:ext>
            </a:extLst>
          </p:cNvPr>
          <p:cNvSpPr>
            <a:spLocks noChangeArrowheads="1"/>
          </p:cNvSpPr>
          <p:nvPr/>
        </p:nvSpPr>
        <p:spPr bwMode="auto">
          <a:xfrm>
            <a:off x="855613" y="2244920"/>
            <a:ext cx="13630408"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BOSSBase</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was used for training and testing the steganography detection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BOSSBase</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10,000 grayscale images commonly used for steganalysis research.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images are stored in PGM (Portable Gray Map) format.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were generated by embedding hidden data using LSB steganography techniques.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includes both cover images (normal images) and </a:t>
            </a:r>
            <a:r>
              <a:rPr kumimoji="0" lang="en-US" altLang="en-US" sz="2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stego</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images (images with hidden data) for model evaluation.</a:t>
            </a:r>
          </a:p>
        </p:txBody>
      </p:sp>
      <p:cxnSp>
        <p:nvCxnSpPr>
          <p:cNvPr id="4" name="Straight Connector 3">
            <a:extLst>
              <a:ext uri="{FF2B5EF4-FFF2-40B4-BE49-F238E27FC236}">
                <a16:creationId xmlns:a16="http://schemas.microsoft.com/office/drawing/2014/main" id="{1BA6B75D-0508-7A6D-416B-F2140A5FA6BD}"/>
              </a:ext>
            </a:extLst>
          </p:cNvPr>
          <p:cNvCxnSpPr/>
          <p:nvPr/>
        </p:nvCxnSpPr>
        <p:spPr>
          <a:xfrm>
            <a:off x="3453063" y="1652743"/>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115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179CDE-0C3B-FD2D-060B-DB3F03CF824E}"/>
              </a:ext>
            </a:extLst>
          </p:cNvPr>
          <p:cNvPicPr>
            <a:picLocks noChangeAspect="1"/>
          </p:cNvPicPr>
          <p:nvPr/>
        </p:nvPicPr>
        <p:blipFill>
          <a:blip r:embed="rId2"/>
          <a:stretch>
            <a:fillRect/>
          </a:stretch>
        </p:blipFill>
        <p:spPr>
          <a:xfrm>
            <a:off x="2648791" y="990423"/>
            <a:ext cx="9332818" cy="6248754"/>
          </a:xfrm>
          <a:prstGeom prst="rect">
            <a:avLst/>
          </a:prstGeom>
        </p:spPr>
      </p:pic>
    </p:spTree>
    <p:extLst>
      <p:ext uri="{BB962C8B-B14F-4D97-AF65-F5344CB8AC3E}">
        <p14:creationId xmlns:p14="http://schemas.microsoft.com/office/powerpoint/2010/main" val="3229604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833354" y="902285"/>
            <a:ext cx="8715018" cy="602456"/>
          </a:xfrm>
          <a:prstGeom prst="rect">
            <a:avLst/>
          </a:prstGeom>
          <a:noFill/>
          <a:ln/>
        </p:spPr>
        <p:txBody>
          <a:bodyPr wrap="none" lIns="0" tIns="0" rIns="0" bIns="0" rtlCol="0" anchor="t"/>
          <a:lstStyle/>
          <a:p>
            <a:pPr marL="0" indent="0" algn="l">
              <a:lnSpc>
                <a:spcPts val="4700"/>
              </a:lnSpc>
              <a:buNone/>
            </a:pPr>
            <a:r>
              <a:rPr lang="en-US" sz="3750" b="1" dirty="0">
                <a:solidFill>
                  <a:srgbClr val="0070C0"/>
                </a:solidFill>
                <a:latin typeface="Times New Roman" panose="02020603050405020304" pitchFamily="18" charset="0"/>
                <a:ea typeface="DM Sans Semi Bold" pitchFamily="34" charset="-122"/>
                <a:cs typeface="Times New Roman" panose="02020603050405020304" pitchFamily="18" charset="0"/>
              </a:rPr>
              <a:t>Model Architecture</a:t>
            </a:r>
            <a:endParaRPr lang="en-US" sz="3750" b="1" dirty="0">
              <a:solidFill>
                <a:srgbClr val="0070C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E162CDC0-881E-309F-0867-4B3843291CA8}"/>
              </a:ext>
            </a:extLst>
          </p:cNvPr>
          <p:cNvSpPr>
            <a:spLocks noChangeArrowheads="1"/>
          </p:cNvSpPr>
          <p:nvPr/>
        </p:nvSpPr>
        <p:spPr bwMode="auto">
          <a:xfrm>
            <a:off x="1082028" y="1731710"/>
            <a:ext cx="12672375"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processes the input steganographic image (224 × 224 × 3) through a preprocessing stage.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image is then analyzed using the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SRNet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deep learning model, which is designed for steganography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applies multiple convolution +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ReLU</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layers to learn pixel-level patterns and identify suspicious modifications caused by hidden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probability of steganography is high, the system performs LSB payload extraction to retrieve the hidden binary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payload is reconstructed and passed to a programming code classification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classifier determines whether the payload contains programming code or normal hidden data, and generates the final detection result.</a:t>
            </a:r>
          </a:p>
        </p:txBody>
      </p:sp>
      <p:cxnSp>
        <p:nvCxnSpPr>
          <p:cNvPr id="3" name="Straight Connector 2">
            <a:extLst>
              <a:ext uri="{FF2B5EF4-FFF2-40B4-BE49-F238E27FC236}">
                <a16:creationId xmlns:a16="http://schemas.microsoft.com/office/drawing/2014/main" id="{30310D7E-A910-9CC6-86E3-12B3F58DE5E7}"/>
              </a:ext>
            </a:extLst>
          </p:cNvPr>
          <p:cNvCxnSpPr/>
          <p:nvPr/>
        </p:nvCxnSpPr>
        <p:spPr>
          <a:xfrm>
            <a:off x="3302592" y="1618019"/>
            <a:ext cx="759192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D1178F-081A-C196-EDCB-F77E6C2ABEAD}"/>
              </a:ext>
            </a:extLst>
          </p:cNvPr>
          <p:cNvPicPr>
            <a:picLocks noChangeAspect="1"/>
          </p:cNvPicPr>
          <p:nvPr/>
        </p:nvPicPr>
        <p:blipFill>
          <a:blip r:embed="rId2"/>
          <a:stretch>
            <a:fillRect/>
          </a:stretch>
        </p:blipFill>
        <p:spPr>
          <a:xfrm>
            <a:off x="1735054" y="738966"/>
            <a:ext cx="11160292" cy="6751668"/>
          </a:xfrm>
          <a:prstGeom prst="rect">
            <a:avLst/>
          </a:prstGeom>
        </p:spPr>
      </p:pic>
    </p:spTree>
    <p:extLst>
      <p:ext uri="{BB962C8B-B14F-4D97-AF65-F5344CB8AC3E}">
        <p14:creationId xmlns:p14="http://schemas.microsoft.com/office/powerpoint/2010/main" val="1346512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A496A9-8E75-2A5A-E4B4-4C40DCF8CD74}"/>
              </a:ext>
            </a:extLst>
          </p:cNvPr>
          <p:cNvSpPr txBox="1"/>
          <p:nvPr/>
        </p:nvSpPr>
        <p:spPr>
          <a:xfrm>
            <a:off x="6134582" y="92089"/>
            <a:ext cx="5289631" cy="584775"/>
          </a:xfrm>
          <a:prstGeom prst="rect">
            <a:avLst/>
          </a:prstGeom>
          <a:noFill/>
        </p:spPr>
        <p:txBody>
          <a:bodyPr wrap="square" rtlCol="0">
            <a:spAutoFit/>
          </a:bodyPr>
          <a:lstStyle/>
          <a:p>
            <a:r>
              <a:rPr lang="en-IN" sz="3200" b="1" dirty="0">
                <a:solidFill>
                  <a:srgbClr val="0070C0"/>
                </a:solidFill>
                <a:latin typeface="Times New Roman" panose="02020603050405020304" pitchFamily="18" charset="0"/>
                <a:cs typeface="Times New Roman" panose="02020603050405020304" pitchFamily="18" charset="0"/>
              </a:rPr>
              <a:t>Results</a:t>
            </a:r>
          </a:p>
        </p:txBody>
      </p:sp>
      <p:pic>
        <p:nvPicPr>
          <p:cNvPr id="5" name="Picture 4">
            <a:extLst>
              <a:ext uri="{FF2B5EF4-FFF2-40B4-BE49-F238E27FC236}">
                <a16:creationId xmlns:a16="http://schemas.microsoft.com/office/drawing/2014/main" id="{0962309E-1D08-A2C5-749E-B550C9260771}"/>
              </a:ext>
            </a:extLst>
          </p:cNvPr>
          <p:cNvPicPr>
            <a:picLocks noChangeAspect="1"/>
          </p:cNvPicPr>
          <p:nvPr/>
        </p:nvPicPr>
        <p:blipFill>
          <a:blip r:embed="rId2"/>
          <a:srcRect l="11584"/>
          <a:stretch>
            <a:fillRect/>
          </a:stretch>
        </p:blipFill>
        <p:spPr>
          <a:xfrm>
            <a:off x="2430684" y="676864"/>
            <a:ext cx="9164014" cy="7392432"/>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0801F578-AC17-47D1-72ED-489CC628CAAE}"/>
                  </a:ext>
                </a:extLst>
              </p14:cNvPr>
              <p14:cNvContentPartPr/>
              <p14:nvPr/>
            </p14:nvContentPartPr>
            <p14:xfrm>
              <a:off x="3969797" y="3844864"/>
              <a:ext cx="340200" cy="82800"/>
            </p14:xfrm>
          </p:contentPart>
        </mc:Choice>
        <mc:Fallback>
          <p:pic>
            <p:nvPicPr>
              <p:cNvPr id="6" name="Ink 5">
                <a:extLst>
                  <a:ext uri="{FF2B5EF4-FFF2-40B4-BE49-F238E27FC236}">
                    <a16:creationId xmlns:a16="http://schemas.microsoft.com/office/drawing/2014/main" id="{0801F578-AC17-47D1-72ED-489CC628CAAE}"/>
                  </a:ext>
                </a:extLst>
              </p:cNvPr>
              <p:cNvPicPr/>
              <p:nvPr/>
            </p:nvPicPr>
            <p:blipFill>
              <a:blip r:embed="rId4"/>
              <a:stretch>
                <a:fillRect/>
              </a:stretch>
            </p:blipFill>
            <p:spPr>
              <a:xfrm>
                <a:off x="3916157" y="3737224"/>
                <a:ext cx="4478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B530375E-84E5-CA98-2BA9-7E3D04BFB393}"/>
                  </a:ext>
                </a:extLst>
              </p14:cNvPr>
              <p14:cNvContentPartPr/>
              <p14:nvPr/>
            </p14:nvContentPartPr>
            <p14:xfrm>
              <a:off x="3969797" y="3829744"/>
              <a:ext cx="358560" cy="128880"/>
            </p14:xfrm>
          </p:contentPart>
        </mc:Choice>
        <mc:Fallback>
          <p:pic>
            <p:nvPicPr>
              <p:cNvPr id="7" name="Ink 6">
                <a:extLst>
                  <a:ext uri="{FF2B5EF4-FFF2-40B4-BE49-F238E27FC236}">
                    <a16:creationId xmlns:a16="http://schemas.microsoft.com/office/drawing/2014/main" id="{B530375E-84E5-CA98-2BA9-7E3D04BFB393}"/>
                  </a:ext>
                </a:extLst>
              </p:cNvPr>
              <p:cNvPicPr/>
              <p:nvPr/>
            </p:nvPicPr>
            <p:blipFill>
              <a:blip r:embed="rId6"/>
              <a:stretch>
                <a:fillRect/>
              </a:stretch>
            </p:blipFill>
            <p:spPr>
              <a:xfrm>
                <a:off x="3916157" y="3722104"/>
                <a:ext cx="466200" cy="344520"/>
              </a:xfrm>
              <a:prstGeom prst="rect">
                <a:avLst/>
              </a:prstGeom>
            </p:spPr>
          </p:pic>
        </mc:Fallback>
      </mc:AlternateContent>
      <p:cxnSp>
        <p:nvCxnSpPr>
          <p:cNvPr id="15" name="Straight Connector 14">
            <a:extLst>
              <a:ext uri="{FF2B5EF4-FFF2-40B4-BE49-F238E27FC236}">
                <a16:creationId xmlns:a16="http://schemas.microsoft.com/office/drawing/2014/main" id="{26B99EF9-A0C5-23CC-C6F3-662CB5247C6C}"/>
              </a:ext>
            </a:extLst>
          </p:cNvPr>
          <p:cNvCxnSpPr/>
          <p:nvPr/>
        </p:nvCxnSpPr>
        <p:spPr>
          <a:xfrm>
            <a:off x="3519237" y="662853"/>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638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DFF1-72B8-7E5A-A781-1CC7F4F624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55D763-34AF-96F3-E2D0-1302448313F5}"/>
              </a:ext>
            </a:extLst>
          </p:cNvPr>
          <p:cNvSpPr txBox="1"/>
          <p:nvPr/>
        </p:nvSpPr>
        <p:spPr>
          <a:xfrm>
            <a:off x="6169780" y="650695"/>
            <a:ext cx="5289631" cy="584775"/>
          </a:xfrm>
          <a:prstGeom prst="rect">
            <a:avLst/>
          </a:prstGeom>
          <a:noFill/>
        </p:spPr>
        <p:txBody>
          <a:bodyPr wrap="square" rtlCol="0">
            <a:spAutoFit/>
          </a:bodyPr>
          <a:lstStyle/>
          <a:p>
            <a:r>
              <a:rPr lang="en-IN" sz="3200" b="1" dirty="0">
                <a:solidFill>
                  <a:srgbClr val="0070C0"/>
                </a:solidFill>
                <a:latin typeface="Times New Roman" panose="02020603050405020304" pitchFamily="18" charset="0"/>
                <a:cs typeface="Times New Roman" panose="02020603050405020304" pitchFamily="18" charset="0"/>
              </a:rPr>
              <a:t>Outputs</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01B27F70-5F50-7DC8-8806-4A5494C14AFF}"/>
                  </a:ext>
                </a:extLst>
              </p14:cNvPr>
              <p14:cNvContentPartPr/>
              <p14:nvPr/>
            </p14:nvContentPartPr>
            <p14:xfrm>
              <a:off x="3969797" y="3844864"/>
              <a:ext cx="340200" cy="82800"/>
            </p14:xfrm>
          </p:contentPart>
        </mc:Choice>
        <mc:Fallback>
          <p:pic>
            <p:nvPicPr>
              <p:cNvPr id="6" name="Ink 5">
                <a:extLst>
                  <a:ext uri="{FF2B5EF4-FFF2-40B4-BE49-F238E27FC236}">
                    <a16:creationId xmlns:a16="http://schemas.microsoft.com/office/drawing/2014/main" id="{01B27F70-5F50-7DC8-8806-4A5494C14AFF}"/>
                  </a:ext>
                </a:extLst>
              </p:cNvPr>
              <p:cNvPicPr/>
              <p:nvPr/>
            </p:nvPicPr>
            <p:blipFill>
              <a:blip r:embed="rId3"/>
              <a:stretch>
                <a:fillRect/>
              </a:stretch>
            </p:blipFill>
            <p:spPr>
              <a:xfrm>
                <a:off x="3915797" y="3736864"/>
                <a:ext cx="4478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B78CFA05-DC84-41D0-CF74-FA0DD51748C0}"/>
                  </a:ext>
                </a:extLst>
              </p14:cNvPr>
              <p14:cNvContentPartPr/>
              <p14:nvPr/>
            </p14:nvContentPartPr>
            <p14:xfrm>
              <a:off x="3969797" y="3829744"/>
              <a:ext cx="358560" cy="128880"/>
            </p14:xfrm>
          </p:contentPart>
        </mc:Choice>
        <mc:Fallback>
          <p:pic>
            <p:nvPicPr>
              <p:cNvPr id="7" name="Ink 6">
                <a:extLst>
                  <a:ext uri="{FF2B5EF4-FFF2-40B4-BE49-F238E27FC236}">
                    <a16:creationId xmlns:a16="http://schemas.microsoft.com/office/drawing/2014/main" id="{B78CFA05-DC84-41D0-CF74-FA0DD51748C0}"/>
                  </a:ext>
                </a:extLst>
              </p:cNvPr>
              <p:cNvPicPr/>
              <p:nvPr/>
            </p:nvPicPr>
            <p:blipFill>
              <a:blip r:embed="rId5"/>
              <a:stretch>
                <a:fillRect/>
              </a:stretch>
            </p:blipFill>
            <p:spPr>
              <a:xfrm>
                <a:off x="3915797" y="3721744"/>
                <a:ext cx="46620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61812742-4557-223F-E34D-77E6FC5DFED0}"/>
                  </a:ext>
                </a:extLst>
              </p14:cNvPr>
              <p14:cNvContentPartPr/>
              <p14:nvPr/>
            </p14:nvContentPartPr>
            <p14:xfrm>
              <a:off x="5764037" y="3449224"/>
              <a:ext cx="9360" cy="360"/>
            </p14:xfrm>
          </p:contentPart>
        </mc:Choice>
        <mc:Fallback>
          <p:pic>
            <p:nvPicPr>
              <p:cNvPr id="3" name="Ink 2">
                <a:extLst>
                  <a:ext uri="{FF2B5EF4-FFF2-40B4-BE49-F238E27FC236}">
                    <a16:creationId xmlns:a16="http://schemas.microsoft.com/office/drawing/2014/main" id="{61812742-4557-223F-E34D-77E6FC5DFED0}"/>
                  </a:ext>
                </a:extLst>
              </p:cNvPr>
              <p:cNvPicPr/>
              <p:nvPr/>
            </p:nvPicPr>
            <p:blipFill>
              <a:blip r:embed="rId7"/>
              <a:stretch>
                <a:fillRect/>
              </a:stretch>
            </p:blipFill>
            <p:spPr>
              <a:xfrm>
                <a:off x="5701037" y="3386584"/>
                <a:ext cx="135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2129C09D-0545-4C4E-8315-B6BFF39FA392}"/>
                  </a:ext>
                </a:extLst>
              </p14:cNvPr>
              <p14:cNvContentPartPr/>
              <p14:nvPr/>
            </p14:nvContentPartPr>
            <p14:xfrm>
              <a:off x="6088397" y="4536784"/>
              <a:ext cx="360" cy="360"/>
            </p14:xfrm>
          </p:contentPart>
        </mc:Choice>
        <mc:Fallback>
          <p:pic>
            <p:nvPicPr>
              <p:cNvPr id="4" name="Ink 3">
                <a:extLst>
                  <a:ext uri="{FF2B5EF4-FFF2-40B4-BE49-F238E27FC236}">
                    <a16:creationId xmlns:a16="http://schemas.microsoft.com/office/drawing/2014/main" id="{2129C09D-0545-4C4E-8315-B6BFF39FA392}"/>
                  </a:ext>
                </a:extLst>
              </p:cNvPr>
              <p:cNvPicPr/>
              <p:nvPr/>
            </p:nvPicPr>
            <p:blipFill>
              <a:blip r:embed="rId9"/>
              <a:stretch>
                <a:fillRect/>
              </a:stretch>
            </p:blipFill>
            <p:spPr>
              <a:xfrm>
                <a:off x="6025397" y="4474144"/>
                <a:ext cx="126000" cy="126000"/>
              </a:xfrm>
              <a:prstGeom prst="rect">
                <a:avLst/>
              </a:prstGeom>
            </p:spPr>
          </p:pic>
        </mc:Fallback>
      </mc:AlternateContent>
      <p:pic>
        <p:nvPicPr>
          <p:cNvPr id="9" name="Picture 8">
            <a:extLst>
              <a:ext uri="{FF2B5EF4-FFF2-40B4-BE49-F238E27FC236}">
                <a16:creationId xmlns:a16="http://schemas.microsoft.com/office/drawing/2014/main" id="{91A1A09F-8FCE-8F12-CABF-3DF54DE62CF4}"/>
              </a:ext>
            </a:extLst>
          </p:cNvPr>
          <p:cNvPicPr>
            <a:picLocks noChangeAspect="1"/>
          </p:cNvPicPr>
          <p:nvPr/>
        </p:nvPicPr>
        <p:blipFill>
          <a:blip r:embed="rId10"/>
          <a:srcRect l="12106" t="6767" r="10752" b="14179"/>
          <a:stretch>
            <a:fillRect/>
          </a:stretch>
        </p:blipFill>
        <p:spPr>
          <a:xfrm>
            <a:off x="7315200" y="1736202"/>
            <a:ext cx="6261462" cy="5312779"/>
          </a:xfrm>
          <a:prstGeom prst="rect">
            <a:avLst/>
          </a:prstGeom>
        </p:spPr>
      </p:pic>
      <p:pic>
        <p:nvPicPr>
          <p:cNvPr id="11" name="Picture 10">
            <a:extLst>
              <a:ext uri="{FF2B5EF4-FFF2-40B4-BE49-F238E27FC236}">
                <a16:creationId xmlns:a16="http://schemas.microsoft.com/office/drawing/2014/main" id="{C4D82436-8F8D-96C6-6802-20ABB6AC2BF6}"/>
              </a:ext>
            </a:extLst>
          </p:cNvPr>
          <p:cNvPicPr>
            <a:picLocks noChangeAspect="1"/>
          </p:cNvPicPr>
          <p:nvPr/>
        </p:nvPicPr>
        <p:blipFill>
          <a:blip r:embed="rId11"/>
          <a:srcRect l="15882" t="6369" r="11705" b="9843"/>
          <a:stretch>
            <a:fillRect/>
          </a:stretch>
        </p:blipFill>
        <p:spPr>
          <a:xfrm>
            <a:off x="810227" y="1736202"/>
            <a:ext cx="5822066" cy="5220182"/>
          </a:xfrm>
          <a:prstGeom prst="rect">
            <a:avLst/>
          </a:prstGeom>
        </p:spPr>
      </p:pic>
      <p:cxnSp>
        <p:nvCxnSpPr>
          <p:cNvPr id="24" name="Straight Connector 23">
            <a:extLst>
              <a:ext uri="{FF2B5EF4-FFF2-40B4-BE49-F238E27FC236}">
                <a16:creationId xmlns:a16="http://schemas.microsoft.com/office/drawing/2014/main" id="{8161CCA7-8694-77CE-B348-C804386D20D3}"/>
              </a:ext>
            </a:extLst>
          </p:cNvPr>
          <p:cNvCxnSpPr/>
          <p:nvPr/>
        </p:nvCxnSpPr>
        <p:spPr>
          <a:xfrm>
            <a:off x="3519237" y="1340227"/>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0703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1AB8-CD84-F031-DEB7-82D035D9CC13}"/>
            </a:ext>
          </a:extLst>
        </p:cNvPr>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48435775-9743-6347-75DF-FBA32B542F5F}"/>
                  </a:ext>
                </a:extLst>
              </p14:cNvPr>
              <p14:cNvContentPartPr/>
              <p14:nvPr/>
            </p14:nvContentPartPr>
            <p14:xfrm>
              <a:off x="3969797" y="3844864"/>
              <a:ext cx="340200" cy="82800"/>
            </p14:xfrm>
          </p:contentPart>
        </mc:Choice>
        <mc:Fallback>
          <p:pic>
            <p:nvPicPr>
              <p:cNvPr id="6" name="Ink 5">
                <a:extLst>
                  <a:ext uri="{FF2B5EF4-FFF2-40B4-BE49-F238E27FC236}">
                    <a16:creationId xmlns:a16="http://schemas.microsoft.com/office/drawing/2014/main" id="{48435775-9743-6347-75DF-FBA32B542F5F}"/>
                  </a:ext>
                </a:extLst>
              </p:cNvPr>
              <p:cNvPicPr/>
              <p:nvPr/>
            </p:nvPicPr>
            <p:blipFill>
              <a:blip r:embed="rId3"/>
              <a:stretch>
                <a:fillRect/>
              </a:stretch>
            </p:blipFill>
            <p:spPr>
              <a:xfrm>
                <a:off x="3915797" y="3736864"/>
                <a:ext cx="44784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2852B4E3-4377-5D22-5E15-A86451D698BD}"/>
                  </a:ext>
                </a:extLst>
              </p14:cNvPr>
              <p14:cNvContentPartPr/>
              <p14:nvPr/>
            </p14:nvContentPartPr>
            <p14:xfrm>
              <a:off x="3969797" y="3829744"/>
              <a:ext cx="358560" cy="128880"/>
            </p14:xfrm>
          </p:contentPart>
        </mc:Choice>
        <mc:Fallback>
          <p:pic>
            <p:nvPicPr>
              <p:cNvPr id="7" name="Ink 6">
                <a:extLst>
                  <a:ext uri="{FF2B5EF4-FFF2-40B4-BE49-F238E27FC236}">
                    <a16:creationId xmlns:a16="http://schemas.microsoft.com/office/drawing/2014/main" id="{2852B4E3-4377-5D22-5E15-A86451D698BD}"/>
                  </a:ext>
                </a:extLst>
              </p:cNvPr>
              <p:cNvPicPr/>
              <p:nvPr/>
            </p:nvPicPr>
            <p:blipFill>
              <a:blip r:embed="rId5"/>
              <a:stretch>
                <a:fillRect/>
              </a:stretch>
            </p:blipFill>
            <p:spPr>
              <a:xfrm>
                <a:off x="3915797" y="3721744"/>
                <a:ext cx="46620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D0A8B61B-B3DE-7E98-A501-84B35D31BF59}"/>
                  </a:ext>
                </a:extLst>
              </p14:cNvPr>
              <p14:cNvContentPartPr/>
              <p14:nvPr/>
            </p14:nvContentPartPr>
            <p14:xfrm>
              <a:off x="5764037" y="3449224"/>
              <a:ext cx="9360" cy="360"/>
            </p14:xfrm>
          </p:contentPart>
        </mc:Choice>
        <mc:Fallback>
          <p:pic>
            <p:nvPicPr>
              <p:cNvPr id="3" name="Ink 2">
                <a:extLst>
                  <a:ext uri="{FF2B5EF4-FFF2-40B4-BE49-F238E27FC236}">
                    <a16:creationId xmlns:a16="http://schemas.microsoft.com/office/drawing/2014/main" id="{D0A8B61B-B3DE-7E98-A501-84B35D31BF59}"/>
                  </a:ext>
                </a:extLst>
              </p:cNvPr>
              <p:cNvPicPr/>
              <p:nvPr/>
            </p:nvPicPr>
            <p:blipFill>
              <a:blip r:embed="rId7"/>
              <a:stretch>
                <a:fillRect/>
              </a:stretch>
            </p:blipFill>
            <p:spPr>
              <a:xfrm>
                <a:off x="5703370" y="3386224"/>
                <a:ext cx="130347"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DC439246-6735-ADE8-45CE-BDCA9AE6DFEA}"/>
                  </a:ext>
                </a:extLst>
              </p14:cNvPr>
              <p14:cNvContentPartPr/>
              <p14:nvPr/>
            </p14:nvContentPartPr>
            <p14:xfrm>
              <a:off x="6088397" y="4536784"/>
              <a:ext cx="360" cy="360"/>
            </p14:xfrm>
          </p:contentPart>
        </mc:Choice>
        <mc:Fallback>
          <p:pic>
            <p:nvPicPr>
              <p:cNvPr id="4" name="Ink 3">
                <a:extLst>
                  <a:ext uri="{FF2B5EF4-FFF2-40B4-BE49-F238E27FC236}">
                    <a16:creationId xmlns:a16="http://schemas.microsoft.com/office/drawing/2014/main" id="{DC439246-6735-ADE8-45CE-BDCA9AE6DFEA}"/>
                  </a:ext>
                </a:extLst>
              </p:cNvPr>
              <p:cNvPicPr/>
              <p:nvPr/>
            </p:nvPicPr>
            <p:blipFill>
              <a:blip r:embed="rId9"/>
              <a:stretch>
                <a:fillRect/>
              </a:stretch>
            </p:blipFill>
            <p:spPr>
              <a:xfrm>
                <a:off x="6025397" y="4473784"/>
                <a:ext cx="126000" cy="126000"/>
              </a:xfrm>
              <a:prstGeom prst="rect">
                <a:avLst/>
              </a:prstGeom>
            </p:spPr>
          </p:pic>
        </mc:Fallback>
      </mc:AlternateContent>
      <p:pic>
        <p:nvPicPr>
          <p:cNvPr id="8" name="Picture 7">
            <a:extLst>
              <a:ext uri="{FF2B5EF4-FFF2-40B4-BE49-F238E27FC236}">
                <a16:creationId xmlns:a16="http://schemas.microsoft.com/office/drawing/2014/main" id="{79E074CB-39A1-E44A-75DB-8E4C081E15FF}"/>
              </a:ext>
            </a:extLst>
          </p:cNvPr>
          <p:cNvPicPr>
            <a:picLocks noChangeAspect="1"/>
          </p:cNvPicPr>
          <p:nvPr/>
        </p:nvPicPr>
        <p:blipFill>
          <a:blip r:embed="rId10"/>
          <a:stretch>
            <a:fillRect/>
          </a:stretch>
        </p:blipFill>
        <p:spPr>
          <a:xfrm>
            <a:off x="2303598" y="3942784"/>
            <a:ext cx="9697005" cy="3793387"/>
          </a:xfrm>
          <a:prstGeom prst="rect">
            <a:avLst/>
          </a:prstGeom>
        </p:spPr>
      </p:pic>
      <p:pic>
        <p:nvPicPr>
          <p:cNvPr id="12" name="Picture 11">
            <a:extLst>
              <a:ext uri="{FF2B5EF4-FFF2-40B4-BE49-F238E27FC236}">
                <a16:creationId xmlns:a16="http://schemas.microsoft.com/office/drawing/2014/main" id="{87E3E890-7585-A8D8-3DFD-4E803727EFD0}"/>
              </a:ext>
            </a:extLst>
          </p:cNvPr>
          <p:cNvPicPr>
            <a:picLocks noChangeAspect="1"/>
          </p:cNvPicPr>
          <p:nvPr/>
        </p:nvPicPr>
        <p:blipFill>
          <a:blip r:embed="rId11"/>
          <a:stretch>
            <a:fillRect/>
          </a:stretch>
        </p:blipFill>
        <p:spPr>
          <a:xfrm>
            <a:off x="2303598" y="78404"/>
            <a:ext cx="9697005" cy="3545409"/>
          </a:xfrm>
          <a:prstGeom prst="rect">
            <a:avLst/>
          </a:prstGeom>
        </p:spPr>
      </p:pic>
    </p:spTree>
    <p:extLst>
      <p:ext uri="{BB962C8B-B14F-4D97-AF65-F5344CB8AC3E}">
        <p14:creationId xmlns:p14="http://schemas.microsoft.com/office/powerpoint/2010/main" val="3560610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19C601-F313-1789-44BA-95BDB7D1A1D1}"/>
              </a:ext>
            </a:extLst>
          </p:cNvPr>
          <p:cNvPicPr>
            <a:picLocks noChangeAspect="1"/>
          </p:cNvPicPr>
          <p:nvPr/>
        </p:nvPicPr>
        <p:blipFill>
          <a:blip r:embed="rId2"/>
          <a:srcRect l="4795" t="2559" r="2264" b="4267"/>
          <a:stretch>
            <a:fillRect/>
          </a:stretch>
        </p:blipFill>
        <p:spPr>
          <a:xfrm>
            <a:off x="6268126" y="3717757"/>
            <a:ext cx="7553562" cy="4075932"/>
          </a:xfrm>
          <a:prstGeom prst="rect">
            <a:avLst/>
          </a:prstGeom>
        </p:spPr>
      </p:pic>
      <p:pic>
        <p:nvPicPr>
          <p:cNvPr id="5" name="Picture 4">
            <a:extLst>
              <a:ext uri="{FF2B5EF4-FFF2-40B4-BE49-F238E27FC236}">
                <a16:creationId xmlns:a16="http://schemas.microsoft.com/office/drawing/2014/main" id="{9BE5CD44-9EE1-C924-E253-16A2F8FEA3E2}"/>
              </a:ext>
            </a:extLst>
          </p:cNvPr>
          <p:cNvPicPr>
            <a:picLocks noChangeAspect="1"/>
          </p:cNvPicPr>
          <p:nvPr/>
        </p:nvPicPr>
        <p:blipFill>
          <a:blip r:embed="rId3"/>
          <a:srcRect l="13228" t="7680" r="9733" b="14325"/>
          <a:stretch>
            <a:fillRect/>
          </a:stretch>
        </p:blipFill>
        <p:spPr>
          <a:xfrm>
            <a:off x="240632" y="2335546"/>
            <a:ext cx="5666874" cy="3558508"/>
          </a:xfrm>
          <a:prstGeom prst="rect">
            <a:avLst/>
          </a:prstGeom>
        </p:spPr>
      </p:pic>
      <p:pic>
        <p:nvPicPr>
          <p:cNvPr id="7" name="Picture 6">
            <a:extLst>
              <a:ext uri="{FF2B5EF4-FFF2-40B4-BE49-F238E27FC236}">
                <a16:creationId xmlns:a16="http://schemas.microsoft.com/office/drawing/2014/main" id="{31B42E1E-19DA-714E-2119-566EEAAF9C9D}"/>
              </a:ext>
            </a:extLst>
          </p:cNvPr>
          <p:cNvPicPr>
            <a:picLocks noChangeAspect="1"/>
          </p:cNvPicPr>
          <p:nvPr/>
        </p:nvPicPr>
        <p:blipFill>
          <a:blip r:embed="rId4"/>
          <a:srcRect l="2905" t="11213" r="3164" b="12459"/>
          <a:stretch>
            <a:fillRect/>
          </a:stretch>
        </p:blipFill>
        <p:spPr>
          <a:xfrm>
            <a:off x="6268126" y="309166"/>
            <a:ext cx="7553562" cy="2674666"/>
          </a:xfrm>
          <a:prstGeom prst="rect">
            <a:avLst/>
          </a:prstGeom>
        </p:spPr>
      </p:pic>
    </p:spTree>
    <p:extLst>
      <p:ext uri="{BB962C8B-B14F-4D97-AF65-F5344CB8AC3E}">
        <p14:creationId xmlns:p14="http://schemas.microsoft.com/office/powerpoint/2010/main" val="1850590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7" name="Text 3"/>
          <p:cNvSpPr/>
          <p:nvPr/>
        </p:nvSpPr>
        <p:spPr>
          <a:xfrm>
            <a:off x="4208503" y="669324"/>
            <a:ext cx="5419487" cy="637937"/>
          </a:xfrm>
          <a:prstGeom prst="rect">
            <a:avLst/>
          </a:prstGeom>
          <a:noFill/>
          <a:ln/>
        </p:spPr>
        <p:txBody>
          <a:bodyPr wrap="none" lIns="0" tIns="0" rIns="0" bIns="0" rtlCol="0" anchor="t"/>
          <a:lstStyle/>
          <a:p>
            <a:pPr marL="0" indent="0" algn="l">
              <a:lnSpc>
                <a:spcPts val="5000"/>
              </a:lnSpc>
              <a:buNone/>
            </a:pPr>
            <a:r>
              <a:rPr lang="en-US" sz="4000" b="1" dirty="0">
                <a:solidFill>
                  <a:srgbClr val="0070C0"/>
                </a:solidFill>
                <a:latin typeface="Times New Roman" panose="02020603050405020304" pitchFamily="18" charset="0"/>
                <a:ea typeface="DM Sans Semi Bold" pitchFamily="34" charset="-122"/>
                <a:cs typeface="Times New Roman" panose="02020603050405020304" pitchFamily="18" charset="0"/>
              </a:rPr>
              <a:t>Future Enhancements</a:t>
            </a:r>
            <a:endParaRPr lang="en-US" sz="4000" b="1" dirty="0">
              <a:solidFill>
                <a:srgbClr val="0070C0"/>
              </a:solidFill>
              <a:latin typeface="Times New Roman" panose="02020603050405020304" pitchFamily="18" charset="0"/>
              <a:cs typeface="Times New Roman" panose="02020603050405020304" pitchFamily="18" charset="0"/>
            </a:endParaRPr>
          </a:p>
        </p:txBody>
      </p:sp>
      <p:sp>
        <p:nvSpPr>
          <p:cNvPr id="11" name="Text 6"/>
          <p:cNvSpPr/>
          <p:nvPr/>
        </p:nvSpPr>
        <p:spPr>
          <a:xfrm>
            <a:off x="2932629" y="2165270"/>
            <a:ext cx="3257634" cy="318849"/>
          </a:xfrm>
          <a:prstGeom prst="rect">
            <a:avLst/>
          </a:prstGeom>
          <a:noFill/>
          <a:ln/>
        </p:spPr>
        <p:txBody>
          <a:bodyPr wrap="none" lIns="0" tIns="0" rIns="0" bIns="0" rtlCol="0" anchor="t"/>
          <a:lstStyle/>
          <a:p>
            <a:pPr marL="342900" indent="-342900" algn="l">
              <a:lnSpc>
                <a:spcPts val="2500"/>
              </a:lnSpc>
              <a:buFont typeface="Arial" panose="020B0604020202020204" pitchFamily="34" charset="0"/>
              <a:buChar char="•"/>
            </a:pPr>
            <a:r>
              <a:rPr lang="en-US" sz="2400" b="1" dirty="0">
                <a:solidFill>
                  <a:srgbClr val="464646"/>
                </a:solidFill>
                <a:latin typeface="Times New Roman" panose="02020603050405020304" pitchFamily="18" charset="0"/>
                <a:ea typeface="DM Sans Semi Bold" pitchFamily="34" charset="-122"/>
                <a:cs typeface="Times New Roman" panose="02020603050405020304" pitchFamily="18" charset="0"/>
              </a:rPr>
              <a:t>Real-Time Chat</a:t>
            </a:r>
            <a:endParaRPr lang="en-US" sz="2400" b="1" dirty="0">
              <a:latin typeface="Times New Roman" panose="02020603050405020304" pitchFamily="18" charset="0"/>
              <a:cs typeface="Times New Roman" panose="02020603050405020304" pitchFamily="18" charset="0"/>
            </a:endParaRPr>
          </a:p>
        </p:txBody>
      </p:sp>
      <p:sp>
        <p:nvSpPr>
          <p:cNvPr id="12" name="Text 7"/>
          <p:cNvSpPr/>
          <p:nvPr/>
        </p:nvSpPr>
        <p:spPr>
          <a:xfrm>
            <a:off x="3293577" y="2632723"/>
            <a:ext cx="8630480" cy="620554"/>
          </a:xfrm>
          <a:prstGeom prst="rect">
            <a:avLst/>
          </a:prstGeom>
          <a:noFill/>
          <a:ln/>
        </p:spPr>
        <p:txBody>
          <a:bodyPr wrap="square" lIns="0" tIns="0" rIns="0" bIns="0" rtlCol="0" anchor="t"/>
          <a:lstStyle/>
          <a:p>
            <a:pPr algn="l">
              <a:lnSpc>
                <a:spcPts val="2400"/>
              </a:lnSpc>
            </a:pPr>
            <a:r>
              <a:rPr lang="en-US" sz="2400" dirty="0">
                <a:solidFill>
                  <a:srgbClr val="464646"/>
                </a:solidFill>
                <a:latin typeface="Times New Roman" panose="02020603050405020304" pitchFamily="18" charset="0"/>
                <a:ea typeface="Inter Medium" pitchFamily="34" charset="-122"/>
                <a:cs typeface="Times New Roman" panose="02020603050405020304" pitchFamily="18" charset="0"/>
              </a:rPr>
              <a:t>Implement instant messaging with WebSocket connections, typing indicators, and message synchronization across devices.</a:t>
            </a:r>
            <a:endParaRPr lang="en-US" sz="2400" dirty="0">
              <a:latin typeface="Times New Roman" panose="02020603050405020304" pitchFamily="18" charset="0"/>
              <a:cs typeface="Times New Roman" panose="02020603050405020304" pitchFamily="18" charset="0"/>
            </a:endParaRPr>
          </a:p>
        </p:txBody>
      </p:sp>
      <p:sp>
        <p:nvSpPr>
          <p:cNvPr id="16" name="Text 10"/>
          <p:cNvSpPr/>
          <p:nvPr/>
        </p:nvSpPr>
        <p:spPr>
          <a:xfrm>
            <a:off x="2932629" y="3850792"/>
            <a:ext cx="3602670" cy="318849"/>
          </a:xfrm>
          <a:prstGeom prst="rect">
            <a:avLst/>
          </a:prstGeom>
          <a:noFill/>
          <a:ln/>
        </p:spPr>
        <p:txBody>
          <a:bodyPr wrap="none" lIns="0" tIns="0" rIns="0" bIns="0" rtlCol="0" anchor="t"/>
          <a:lstStyle/>
          <a:p>
            <a:pPr marL="342900" indent="-342900" algn="l">
              <a:lnSpc>
                <a:spcPts val="2500"/>
              </a:lnSpc>
              <a:buFont typeface="Arial" panose="020B0604020202020204" pitchFamily="34" charset="0"/>
              <a:buChar char="•"/>
            </a:pPr>
            <a:r>
              <a:rPr lang="en-US" sz="2400" b="1" dirty="0">
                <a:solidFill>
                  <a:srgbClr val="464646"/>
                </a:solidFill>
                <a:latin typeface="Times New Roman" panose="02020603050405020304" pitchFamily="18" charset="0"/>
                <a:ea typeface="DM Sans Semi Bold" pitchFamily="34" charset="-122"/>
                <a:cs typeface="Times New Roman" panose="02020603050405020304" pitchFamily="18" charset="0"/>
              </a:rPr>
              <a:t>Advanced AI Detection</a:t>
            </a:r>
            <a:endParaRPr lang="en-US" sz="2400" b="1" dirty="0">
              <a:latin typeface="Times New Roman" panose="02020603050405020304" pitchFamily="18" charset="0"/>
              <a:cs typeface="Times New Roman" panose="02020603050405020304" pitchFamily="18" charset="0"/>
            </a:endParaRPr>
          </a:p>
        </p:txBody>
      </p:sp>
      <p:sp>
        <p:nvSpPr>
          <p:cNvPr id="17" name="Text 11"/>
          <p:cNvSpPr/>
          <p:nvPr/>
        </p:nvSpPr>
        <p:spPr>
          <a:xfrm>
            <a:off x="3293577" y="4339149"/>
            <a:ext cx="8239691" cy="930831"/>
          </a:xfrm>
          <a:prstGeom prst="rect">
            <a:avLst/>
          </a:prstGeom>
          <a:noFill/>
          <a:ln/>
        </p:spPr>
        <p:txBody>
          <a:bodyPr wrap="square" lIns="0" tIns="0" rIns="0" bIns="0" rtlCol="0" anchor="t"/>
          <a:lstStyle/>
          <a:p>
            <a:pPr algn="l">
              <a:lnSpc>
                <a:spcPts val="2400"/>
              </a:lnSpc>
            </a:pPr>
            <a:r>
              <a:rPr lang="en-US" sz="2400" dirty="0">
                <a:solidFill>
                  <a:srgbClr val="464646"/>
                </a:solidFill>
                <a:latin typeface="Times New Roman" panose="02020603050405020304" pitchFamily="18" charset="0"/>
                <a:ea typeface="Inter Medium" pitchFamily="34" charset="-122"/>
                <a:cs typeface="Times New Roman" panose="02020603050405020304" pitchFamily="18" charset="0"/>
              </a:rPr>
              <a:t>Deploy deep learning models for detecting novel steganography techniques, adversarial attacks, and zero-day embedding methods.</a:t>
            </a:r>
            <a:endParaRPr lang="en-US" sz="2400" dirty="0">
              <a:latin typeface="Times New Roman" panose="02020603050405020304" pitchFamily="18" charset="0"/>
              <a:cs typeface="Times New Roman" panose="02020603050405020304" pitchFamily="18" charset="0"/>
            </a:endParaRPr>
          </a:p>
        </p:txBody>
      </p:sp>
      <p:sp>
        <p:nvSpPr>
          <p:cNvPr id="21" name="Text 14"/>
          <p:cNvSpPr/>
          <p:nvPr/>
        </p:nvSpPr>
        <p:spPr>
          <a:xfrm>
            <a:off x="2974246" y="5439489"/>
            <a:ext cx="3257634" cy="318849"/>
          </a:xfrm>
          <a:prstGeom prst="rect">
            <a:avLst/>
          </a:prstGeom>
          <a:noFill/>
          <a:ln/>
        </p:spPr>
        <p:txBody>
          <a:bodyPr wrap="none" lIns="0" tIns="0" rIns="0" bIns="0" rtlCol="0" anchor="t"/>
          <a:lstStyle/>
          <a:p>
            <a:pPr marL="342900" indent="-342900" algn="l">
              <a:lnSpc>
                <a:spcPts val="2500"/>
              </a:lnSpc>
              <a:buFont typeface="Arial" panose="020B0604020202020204" pitchFamily="34" charset="0"/>
              <a:buChar char="•"/>
            </a:pPr>
            <a:r>
              <a:rPr lang="en-US" sz="2400" b="1" dirty="0">
                <a:solidFill>
                  <a:srgbClr val="464646"/>
                </a:solidFill>
                <a:latin typeface="Times New Roman" panose="02020603050405020304" pitchFamily="18" charset="0"/>
                <a:ea typeface="DM Sans Semi Bold" pitchFamily="34" charset="-122"/>
                <a:cs typeface="Times New Roman" panose="02020603050405020304" pitchFamily="18" charset="0"/>
              </a:rPr>
              <a:t>Mobile Application</a:t>
            </a:r>
            <a:endParaRPr lang="en-US" sz="2400" b="1" dirty="0">
              <a:latin typeface="Times New Roman" panose="02020603050405020304" pitchFamily="18" charset="0"/>
              <a:cs typeface="Times New Roman" panose="02020603050405020304" pitchFamily="18" charset="0"/>
            </a:endParaRPr>
          </a:p>
        </p:txBody>
      </p:sp>
      <p:sp>
        <p:nvSpPr>
          <p:cNvPr id="22" name="Text 15"/>
          <p:cNvSpPr/>
          <p:nvPr/>
        </p:nvSpPr>
        <p:spPr>
          <a:xfrm>
            <a:off x="3293577" y="5857901"/>
            <a:ext cx="7848751" cy="930831"/>
          </a:xfrm>
          <a:prstGeom prst="rect">
            <a:avLst/>
          </a:prstGeom>
          <a:noFill/>
          <a:ln/>
        </p:spPr>
        <p:txBody>
          <a:bodyPr wrap="square" lIns="0" tIns="0" rIns="0" bIns="0" rtlCol="0" anchor="t"/>
          <a:lstStyle/>
          <a:p>
            <a:pPr algn="l">
              <a:lnSpc>
                <a:spcPts val="2400"/>
              </a:lnSpc>
            </a:pPr>
            <a:r>
              <a:rPr lang="en-US" sz="2400" dirty="0">
                <a:solidFill>
                  <a:srgbClr val="464646"/>
                </a:solidFill>
                <a:latin typeface="Times New Roman" panose="02020603050405020304" pitchFamily="18" charset="0"/>
                <a:ea typeface="Inter Medium" pitchFamily="34" charset="-122"/>
                <a:cs typeface="Times New Roman" panose="02020603050405020304" pitchFamily="18" charset="0"/>
              </a:rPr>
              <a:t>Native iOS and Android apps with offline capabilities, push notifications, and optimized image processing for mobile devices.</a:t>
            </a:r>
            <a:endParaRPr lang="en-US" sz="2400"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89FD6A49-C49E-87F1-EE3A-CD688039C587}"/>
              </a:ext>
            </a:extLst>
          </p:cNvPr>
          <p:cNvCxnSpPr/>
          <p:nvPr/>
        </p:nvCxnSpPr>
        <p:spPr>
          <a:xfrm>
            <a:off x="3140547" y="1479124"/>
            <a:ext cx="759192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8D734E0-8B9C-4E48-2098-24607FC99857}"/>
              </a:ext>
            </a:extLst>
          </p:cNvPr>
          <p:cNvGraphicFramePr>
            <a:graphicFrameLocks noGrp="1"/>
          </p:cNvGraphicFramePr>
          <p:nvPr>
            <p:extLst>
              <p:ext uri="{D42A27DB-BD31-4B8C-83A1-F6EECF244321}">
                <p14:modId xmlns:p14="http://schemas.microsoft.com/office/powerpoint/2010/main" val="1783296778"/>
              </p:ext>
            </p:extLst>
          </p:nvPr>
        </p:nvGraphicFramePr>
        <p:xfrm>
          <a:off x="1099073" y="2246861"/>
          <a:ext cx="12617448" cy="4206240"/>
        </p:xfrm>
        <a:graphic>
          <a:graphicData uri="http://schemas.openxmlformats.org/drawingml/2006/table">
            <a:tbl>
              <a:tblPr>
                <a:tableStyleId>{5940675A-B579-460E-94D1-54222C63F5DA}</a:tableStyleId>
              </a:tblPr>
              <a:tblGrid>
                <a:gridCol w="3154362">
                  <a:extLst>
                    <a:ext uri="{9D8B030D-6E8A-4147-A177-3AD203B41FA5}">
                      <a16:colId xmlns:a16="http://schemas.microsoft.com/office/drawing/2014/main" val="258533573"/>
                    </a:ext>
                  </a:extLst>
                </a:gridCol>
                <a:gridCol w="2691375">
                  <a:extLst>
                    <a:ext uri="{9D8B030D-6E8A-4147-A177-3AD203B41FA5}">
                      <a16:colId xmlns:a16="http://schemas.microsoft.com/office/drawing/2014/main" val="3743259273"/>
                    </a:ext>
                  </a:extLst>
                </a:gridCol>
                <a:gridCol w="2824223">
                  <a:extLst>
                    <a:ext uri="{9D8B030D-6E8A-4147-A177-3AD203B41FA5}">
                      <a16:colId xmlns:a16="http://schemas.microsoft.com/office/drawing/2014/main" val="2696085402"/>
                    </a:ext>
                  </a:extLst>
                </a:gridCol>
                <a:gridCol w="3947488">
                  <a:extLst>
                    <a:ext uri="{9D8B030D-6E8A-4147-A177-3AD203B41FA5}">
                      <a16:colId xmlns:a16="http://schemas.microsoft.com/office/drawing/2014/main" val="3836178934"/>
                    </a:ext>
                  </a:extLst>
                </a:gridCol>
              </a:tblGrid>
              <a:tr h="365760">
                <a:tc>
                  <a:txBody>
                    <a:bodyPr/>
                    <a:lstStyle/>
                    <a:p>
                      <a:pPr>
                        <a:buNone/>
                      </a:pPr>
                      <a:r>
                        <a:rPr lang="en-IN" sz="1800" b="1" dirty="0">
                          <a:latin typeface="Times New Roman" panose="02020603050405020304" pitchFamily="18" charset="0"/>
                          <a:cs typeface="Times New Roman" panose="02020603050405020304" pitchFamily="18" charset="0"/>
                        </a:rPr>
                        <a:t>Paper Title</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800" b="1">
                          <a:latin typeface="Times New Roman" panose="02020603050405020304" pitchFamily="18" charset="0"/>
                          <a:cs typeface="Times New Roman" panose="02020603050405020304" pitchFamily="18" charset="0"/>
                        </a:rPr>
                        <a:t>Authors &amp; Year</a:t>
                      </a:r>
                      <a:endParaRPr lang="en-IN" sz="1800">
                        <a:latin typeface="Times New Roman" panose="02020603050405020304" pitchFamily="18" charset="0"/>
                        <a:cs typeface="Times New Roman" panose="02020603050405020304" pitchFamily="18" charset="0"/>
                      </a:endParaRPr>
                    </a:p>
                  </a:txBody>
                  <a:tcPr anchor="ctr"/>
                </a:tc>
                <a:tc>
                  <a:txBody>
                    <a:bodyPr/>
                    <a:lstStyle/>
                    <a:p>
                      <a:pPr>
                        <a:buNone/>
                      </a:pPr>
                      <a:r>
                        <a:rPr lang="en-IN" sz="1800" b="1">
                          <a:latin typeface="Times New Roman" panose="02020603050405020304" pitchFamily="18" charset="0"/>
                          <a:cs typeface="Times New Roman" panose="02020603050405020304" pitchFamily="18" charset="0"/>
                        </a:rPr>
                        <a:t>Methodology Used</a:t>
                      </a:r>
                      <a:endParaRPr lang="en-IN" sz="1800">
                        <a:latin typeface="Times New Roman" panose="02020603050405020304" pitchFamily="18" charset="0"/>
                        <a:cs typeface="Times New Roman" panose="02020603050405020304" pitchFamily="18" charset="0"/>
                      </a:endParaRPr>
                    </a:p>
                  </a:txBody>
                  <a:tcPr anchor="ctr"/>
                </a:tc>
                <a:tc>
                  <a:txBody>
                    <a:bodyPr/>
                    <a:lstStyle/>
                    <a:p>
                      <a:pPr>
                        <a:buNone/>
                      </a:pPr>
                      <a:r>
                        <a:rPr lang="en-IN" sz="1800" b="1">
                          <a:latin typeface="Times New Roman" panose="02020603050405020304" pitchFamily="18" charset="0"/>
                          <a:cs typeface="Times New Roman" panose="02020603050405020304" pitchFamily="18" charset="0"/>
                        </a:rPr>
                        <a:t>Key Findings</a:t>
                      </a:r>
                      <a:endParaRPr lang="en-IN" sz="1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87705478"/>
                  </a:ext>
                </a:extLst>
              </a:tr>
              <a:tr h="1188720">
                <a:tc>
                  <a:txBody>
                    <a:bodyPr/>
                    <a:lstStyle/>
                    <a:p>
                      <a:pPr>
                        <a:buNone/>
                      </a:pPr>
                      <a:r>
                        <a:rPr lang="en-US" sz="1800" dirty="0">
                          <a:latin typeface="Times New Roman" panose="02020603050405020304" pitchFamily="18" charset="0"/>
                          <a:cs typeface="Times New Roman" panose="02020603050405020304" pitchFamily="18" charset="0"/>
                        </a:rPr>
                        <a:t>Deep Learning-Based Multi-Class Detection of LSB Steganography in Digital Images</a:t>
                      </a:r>
                    </a:p>
                  </a:txBody>
                  <a:tcPr anchor="ctr"/>
                </a:tc>
                <a:tc>
                  <a:txBody>
                    <a:bodyPr/>
                    <a:lstStyle/>
                    <a:p>
                      <a:pPr>
                        <a:buNone/>
                      </a:pPr>
                      <a:r>
                        <a:rPr lang="da-DK" sz="1800" dirty="0">
                          <a:latin typeface="Times New Roman" panose="02020603050405020304" pitchFamily="18" charset="0"/>
                          <a:cs typeface="Times New Roman" panose="02020603050405020304" pitchFamily="18" charset="0"/>
                        </a:rPr>
                        <a:t>A. M. Almhlbdi et al., 2025</a:t>
                      </a:r>
                    </a:p>
                  </a:txBody>
                  <a:tcPr anchor="ctr"/>
                </a:tc>
                <a:tc>
                  <a:txBody>
                    <a:bodyPr/>
                    <a:lstStyle/>
                    <a:p>
                      <a:pPr>
                        <a:buNone/>
                      </a:pPr>
                      <a:r>
                        <a:rPr lang="en-IN" sz="1800" dirty="0">
                          <a:latin typeface="Times New Roman" panose="02020603050405020304" pitchFamily="18" charset="0"/>
                          <a:cs typeface="Times New Roman" panose="02020603050405020304" pitchFamily="18" charset="0"/>
                        </a:rPr>
                        <a:t>CNN</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CNN achieved high detection accuracy; preserving image resolution significantly improved performance.</a:t>
                      </a:r>
                    </a:p>
                  </a:txBody>
                  <a:tcPr anchor="ctr"/>
                </a:tc>
                <a:extLst>
                  <a:ext uri="{0D108BD9-81ED-4DB2-BD59-A6C34878D82A}">
                    <a16:rowId xmlns:a16="http://schemas.microsoft.com/office/drawing/2014/main" val="3435876104"/>
                  </a:ext>
                </a:extLst>
              </a:tr>
              <a:tr h="1188720">
                <a:tc>
                  <a:txBody>
                    <a:bodyPr/>
                    <a:lstStyle/>
                    <a:p>
                      <a:pPr>
                        <a:buNone/>
                      </a:pPr>
                      <a:r>
                        <a:rPr lang="en-US" sz="1800" dirty="0">
                          <a:latin typeface="Times New Roman" panose="02020603050405020304" pitchFamily="18" charset="0"/>
                          <a:cs typeface="Times New Roman" panose="02020603050405020304" pitchFamily="18" charset="0"/>
                        </a:rPr>
                        <a:t>CNN-Based Detection of Hidden Data in Spatial Domain Images</a:t>
                      </a:r>
                    </a:p>
                  </a:txBody>
                  <a:tcPr anchor="ctr"/>
                </a:tc>
                <a:tc>
                  <a:txBody>
                    <a:bodyPr/>
                    <a:lstStyle/>
                    <a:p>
                      <a:pPr>
                        <a:buNone/>
                      </a:pPr>
                      <a:r>
                        <a:rPr lang="en-IN" sz="1800">
                          <a:latin typeface="Times New Roman" panose="02020603050405020304" pitchFamily="18" charset="0"/>
                          <a:cs typeface="Times New Roman" panose="02020603050405020304" pitchFamily="18" charset="0"/>
                        </a:rPr>
                        <a:t>J. Ntivuguruzwa, T. Ahmad, 2023</a:t>
                      </a:r>
                    </a:p>
                  </a:txBody>
                  <a:tcPr anchor="ctr"/>
                </a:tc>
                <a:tc>
                  <a:txBody>
                    <a:bodyPr/>
                    <a:lstStyle/>
                    <a:p>
                      <a:pPr>
                        <a:buNone/>
                      </a:pPr>
                      <a:r>
                        <a:rPr lang="en-IN" sz="1800">
                          <a:latin typeface="Times New Roman" panose="02020603050405020304" pitchFamily="18" charset="0"/>
                          <a:cs typeface="Times New Roman" panose="02020603050405020304" pitchFamily="18" charset="0"/>
                        </a:rPr>
                        <a:t>Convolutional Neural Network</a:t>
                      </a:r>
                    </a:p>
                  </a:txBody>
                  <a:tcPr anchor="ctr"/>
                </a:tc>
                <a:tc>
                  <a:txBody>
                    <a:bodyPr/>
                    <a:lstStyle/>
                    <a:p>
                      <a:pPr>
                        <a:buNone/>
                      </a:pPr>
                      <a:r>
                        <a:rPr lang="en-US" sz="1800">
                          <a:latin typeface="Times New Roman" panose="02020603050405020304" pitchFamily="18" charset="0"/>
                          <a:cs typeface="Times New Roman" panose="02020603050405020304" pitchFamily="18" charset="0"/>
                        </a:rPr>
                        <a:t>CNN models effectively learned pixel-level artifacts and outperformed traditional machine learning approaches.</a:t>
                      </a:r>
                    </a:p>
                  </a:txBody>
                  <a:tcPr anchor="ctr"/>
                </a:tc>
                <a:extLst>
                  <a:ext uri="{0D108BD9-81ED-4DB2-BD59-A6C34878D82A}">
                    <a16:rowId xmlns:a16="http://schemas.microsoft.com/office/drawing/2014/main" val="1142397432"/>
                  </a:ext>
                </a:extLst>
              </a:tr>
              <a:tr h="1463040">
                <a:tc>
                  <a:txBody>
                    <a:bodyPr/>
                    <a:lstStyle/>
                    <a:p>
                      <a:pPr>
                        <a:buNone/>
                      </a:pPr>
                      <a:r>
                        <a:rPr lang="en-US" sz="1800">
                          <a:latin typeface="Times New Roman" panose="02020603050405020304" pitchFamily="18" charset="0"/>
                          <a:cs typeface="Times New Roman" panose="02020603050405020304" pitchFamily="18" charset="0"/>
                        </a:rPr>
                        <a:t>Detection of Steganographic Threats in Digital Images Using Machine Learning</a:t>
                      </a:r>
                    </a:p>
                  </a:txBody>
                  <a:tcPr anchor="ctr"/>
                </a:tc>
                <a:tc>
                  <a:txBody>
                    <a:bodyPr/>
                    <a:lstStyle/>
                    <a:p>
                      <a:pPr>
                        <a:buNone/>
                      </a:pPr>
                      <a:r>
                        <a:rPr lang="it-IT" sz="1800">
                          <a:latin typeface="Times New Roman" panose="02020603050405020304" pitchFamily="18" charset="0"/>
                          <a:cs typeface="Times New Roman" panose="02020603050405020304" pitchFamily="18" charset="0"/>
                        </a:rPr>
                        <a:t>L. Cassavia et al., 2022</a:t>
                      </a:r>
                    </a:p>
                  </a:txBody>
                  <a:tcPr anchor="ctr"/>
                </a:tc>
                <a:tc>
                  <a:txBody>
                    <a:bodyPr/>
                    <a:lstStyle/>
                    <a:p>
                      <a:pPr>
                        <a:buNone/>
                      </a:pPr>
                      <a:r>
                        <a:rPr lang="en-US" sz="1800">
                          <a:latin typeface="Times New Roman" panose="02020603050405020304" pitchFamily="18" charset="0"/>
                          <a:cs typeface="Times New Roman" panose="02020603050405020304" pitchFamily="18" charset="0"/>
                        </a:rPr>
                        <a:t>Machine learning classifiers with feature extraction</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Demonstrated that ML techniques can detect steganographic threats, but performance depends on feature quality and dataset.</a:t>
                      </a:r>
                    </a:p>
                  </a:txBody>
                  <a:tcPr anchor="ctr"/>
                </a:tc>
                <a:extLst>
                  <a:ext uri="{0D108BD9-81ED-4DB2-BD59-A6C34878D82A}">
                    <a16:rowId xmlns:a16="http://schemas.microsoft.com/office/drawing/2014/main" val="2912542301"/>
                  </a:ext>
                </a:extLst>
              </a:tr>
            </a:tbl>
          </a:graphicData>
        </a:graphic>
      </p:graphicFrame>
      <p:sp>
        <p:nvSpPr>
          <p:cNvPr id="3" name="TextBox 2">
            <a:extLst>
              <a:ext uri="{FF2B5EF4-FFF2-40B4-BE49-F238E27FC236}">
                <a16:creationId xmlns:a16="http://schemas.microsoft.com/office/drawing/2014/main" id="{CB029B5A-206D-CB89-14EB-A67C939C1E38}"/>
              </a:ext>
            </a:extLst>
          </p:cNvPr>
          <p:cNvSpPr txBox="1"/>
          <p:nvPr/>
        </p:nvSpPr>
        <p:spPr>
          <a:xfrm>
            <a:off x="5220181" y="682906"/>
            <a:ext cx="4375231" cy="707886"/>
          </a:xfrm>
          <a:prstGeom prst="rect">
            <a:avLst/>
          </a:prstGeom>
          <a:noFill/>
        </p:spPr>
        <p:txBody>
          <a:bodyPr wrap="square" rtlCol="0">
            <a:spAutoFit/>
          </a:bodyPr>
          <a:lstStyle/>
          <a:p>
            <a:r>
              <a:rPr lang="en-IN" sz="4000" b="1" dirty="0">
                <a:solidFill>
                  <a:srgbClr val="0070C0"/>
                </a:solidFill>
                <a:latin typeface="Times New Roman" panose="02020603050405020304" pitchFamily="18" charset="0"/>
                <a:cs typeface="Times New Roman" panose="02020603050405020304" pitchFamily="18" charset="0"/>
              </a:rPr>
              <a:t>Literature Survey</a:t>
            </a:r>
          </a:p>
        </p:txBody>
      </p:sp>
      <p:cxnSp>
        <p:nvCxnSpPr>
          <p:cNvPr id="4" name="Straight Connector 3">
            <a:extLst>
              <a:ext uri="{FF2B5EF4-FFF2-40B4-BE49-F238E27FC236}">
                <a16:creationId xmlns:a16="http://schemas.microsoft.com/office/drawing/2014/main" id="{B45D1E74-37D7-3FEF-0C00-7DB9E35F052F}"/>
              </a:ext>
            </a:extLst>
          </p:cNvPr>
          <p:cNvCxnSpPr/>
          <p:nvPr/>
        </p:nvCxnSpPr>
        <p:spPr>
          <a:xfrm>
            <a:off x="3453063" y="1502273"/>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166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80944" y="1627898"/>
            <a:ext cx="4657249" cy="582216"/>
          </a:xfrm>
          <a:prstGeom prst="rect">
            <a:avLst/>
          </a:prstGeom>
          <a:noFill/>
          <a:ln/>
        </p:spPr>
        <p:txBody>
          <a:bodyPr wrap="none" lIns="0" tIns="0" rIns="0" bIns="0" rtlCol="0" anchor="t"/>
          <a:lstStyle/>
          <a:p>
            <a:pPr marL="0" indent="0" algn="l">
              <a:lnSpc>
                <a:spcPts val="4550"/>
              </a:lnSpc>
              <a:buNone/>
            </a:pPr>
            <a:r>
              <a:rPr lang="en-US" sz="3200" b="1" dirty="0">
                <a:solidFill>
                  <a:srgbClr val="0070C0"/>
                </a:solidFill>
                <a:latin typeface="Times New Roman" panose="02020603050405020304" pitchFamily="18" charset="0"/>
                <a:ea typeface="DM Sans Semi Bold" pitchFamily="34" charset="-122"/>
                <a:cs typeface="Times New Roman" panose="02020603050405020304" pitchFamily="18" charset="0"/>
              </a:rPr>
              <a:t>Conclusion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DFB05E0-7DE4-F145-E448-E5EEC53E721A}"/>
              </a:ext>
            </a:extLst>
          </p:cNvPr>
          <p:cNvSpPr>
            <a:spLocks noChangeArrowheads="1"/>
          </p:cNvSpPr>
          <p:nvPr/>
        </p:nvSpPr>
        <p:spPr bwMode="auto">
          <a:xfrm>
            <a:off x="1250066" y="2839149"/>
            <a:ext cx="1273215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secure system was developed to detect hidden data in images using steganography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SRNet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was used to identify suspicious patterns in images.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Hidden information was successfully extracted using the LSB extraction method.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payload was analyzed to determine whether it contained programming code.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improves security in image-based communication by detecting hidden malicious content.</a:t>
            </a:r>
          </a:p>
        </p:txBody>
      </p:sp>
      <p:cxnSp>
        <p:nvCxnSpPr>
          <p:cNvPr id="4" name="Straight Connector 3">
            <a:extLst>
              <a:ext uri="{FF2B5EF4-FFF2-40B4-BE49-F238E27FC236}">
                <a16:creationId xmlns:a16="http://schemas.microsoft.com/office/drawing/2014/main" id="{2CEBDA9F-FDE1-3EF1-52C6-496DADB0C8ED}"/>
              </a:ext>
            </a:extLst>
          </p:cNvPr>
          <p:cNvCxnSpPr/>
          <p:nvPr/>
        </p:nvCxnSpPr>
        <p:spPr>
          <a:xfrm>
            <a:off x="3707769" y="2347224"/>
            <a:ext cx="759192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488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1073</Words>
  <Application>Microsoft Office PowerPoint</Application>
  <PresentationFormat>Custom</PresentationFormat>
  <Paragraphs>128</Paragraphs>
  <Slides>21</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Sya2628</dc:creator>
  <cp:lastModifiedBy>Syam prasad</cp:lastModifiedBy>
  <cp:revision>11</cp:revision>
  <dcterms:created xsi:type="dcterms:W3CDTF">2026-01-17T08:43:15Z</dcterms:created>
  <dcterms:modified xsi:type="dcterms:W3CDTF">2026-03-07T08:07:19Z</dcterms:modified>
</cp:coreProperties>
</file>